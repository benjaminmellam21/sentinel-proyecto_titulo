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9" r:id="rId10"/>
    <p:sldId id="264" r:id="rId11"/>
    <p:sldId id="265" r:id="rId12"/>
    <p:sldId id="266"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1645920"/>
            <a:ext cx="10725912" cy="1188720"/>
          </a:xfrm>
          <a:prstGeom prst="rect">
            <a:avLst/>
          </a:prstGeom>
          <a:noFill/>
        </p:spPr>
        <p:txBody>
          <a:bodyPr wrap="square">
            <a:spAutoFit/>
          </a:bodyPr>
          <a:lstStyle/>
          <a:p>
            <a:r>
              <a:rPr sz="5200" b="1" i="0">
                <a:solidFill>
                  <a:srgbClr val="FFFFFF"/>
                </a:solidFill>
                <a:latin typeface="Georgia"/>
              </a:rPr>
              <a:t>S E N T I N E L</a:t>
            </a:r>
          </a:p>
        </p:txBody>
      </p:sp>
      <p:sp>
        <p:nvSpPr>
          <p:cNvPr id="3" name="TextBox 2"/>
          <p:cNvSpPr txBox="1"/>
          <p:nvPr/>
        </p:nvSpPr>
        <p:spPr>
          <a:xfrm>
            <a:off x="731520" y="2743200"/>
            <a:ext cx="10725912" cy="731520"/>
          </a:xfrm>
          <a:prstGeom prst="rect">
            <a:avLst/>
          </a:prstGeom>
          <a:noFill/>
        </p:spPr>
        <p:txBody>
          <a:bodyPr wrap="square">
            <a:spAutoFit/>
          </a:bodyPr>
          <a:lstStyle/>
          <a:p>
            <a:r>
              <a:rPr sz="2000" b="0" i="0">
                <a:solidFill>
                  <a:srgbClr val="E0F2FE"/>
                </a:solidFill>
                <a:latin typeface="Arial"/>
              </a:rPr>
              <a:t>Sistema de Prevención de Incidentes TI con Inteligencia Artificial</a:t>
            </a:r>
          </a:p>
        </p:txBody>
      </p:sp>
      <p:sp>
        <p:nvSpPr>
          <p:cNvPr id="4" name="Rectangle 3"/>
          <p:cNvSpPr/>
          <p:nvPr/>
        </p:nvSpPr>
        <p:spPr>
          <a:xfrm>
            <a:off x="731520" y="3566160"/>
            <a:ext cx="4114800" cy="381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3931920"/>
            <a:ext cx="10725912" cy="2011680"/>
          </a:xfrm>
          <a:prstGeom prst="rect">
            <a:avLst/>
          </a:prstGeom>
          <a:noFill/>
        </p:spPr>
        <p:txBody>
          <a:bodyPr wrap="square">
            <a:spAutoFit/>
          </a:bodyPr>
          <a:lstStyle/>
          <a:p>
            <a:r>
              <a:rPr sz="1400" b="1" i="0">
                <a:solidFill>
                  <a:srgbClr val="94A3B8"/>
                </a:solidFill>
                <a:latin typeface="Arial"/>
              </a:rPr>
              <a:t>Evaluación de Diseño de Proyecto APT  |  Capstone_008V</a:t>
            </a:r>
          </a:p>
          <a:p>
            <a:pPr>
              <a:spcBef>
                <a:spcPts val="800"/>
              </a:spcBef>
            </a:pPr>
            <a:r>
              <a:rPr sz="1300" b="0" i="0">
                <a:solidFill>
                  <a:srgbClr val="94A3B8"/>
                </a:solidFill>
                <a:latin typeface="Arial"/>
              </a:rPr>
              <a:t>Integrantes: </a:t>
            </a:r>
            <a:r>
              <a:rPr sz="1300" b="1" i="0">
                <a:solidFill>
                  <a:srgbClr val="FFFFFF"/>
                </a:solidFill>
                <a:latin typeface="Arial"/>
              </a:rPr>
              <a:t>Benjamín Mella  •  Génesis Hernández  •  Bairon Raio</a:t>
            </a:r>
          </a:p>
          <a:p>
            <a:pPr>
              <a:spcBef>
                <a:spcPts val="600"/>
              </a:spcBef>
            </a:pPr>
            <a:r>
              <a:rPr sz="1200" b="0" i="0">
                <a:solidFill>
                  <a:srgbClr val="94A3B8"/>
                </a:solidFill>
                <a:latin typeface="Arial"/>
              </a:rPr>
              <a:t>Carrera: </a:t>
            </a:r>
            <a:r>
              <a:rPr sz="1200" b="0" i="0">
                <a:solidFill>
                  <a:srgbClr val="CBD5E1"/>
                </a:solidFill>
                <a:latin typeface="Arial"/>
              </a:rPr>
              <a:t>Ingeniería en Informática  |  Sede Maipú</a:t>
            </a:r>
          </a:p>
          <a:p>
            <a:pPr>
              <a:spcBef>
                <a:spcPts val="600"/>
              </a:spcBef>
            </a:pPr>
            <a:r>
              <a:rPr sz="1200" b="0" i="0">
                <a:solidFill>
                  <a:srgbClr val="94A3B8"/>
                </a:solidFill>
                <a:latin typeface="Arial"/>
              </a:rPr>
              <a:t>Fecha de Evaluación: </a:t>
            </a:r>
            <a:r>
              <a:rPr sz="1200" b="0" i="0">
                <a:solidFill>
                  <a:srgbClr val="CBD5E1"/>
                </a:solidFill>
                <a:latin typeface="Arial"/>
              </a:rPr>
              <a:t>7 de septiembre de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t>Executive Summary: Sentinel Predictive Observability</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5303520" cy="46634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r>
              <a:rPr sz="1800" b="1" i="0">
                <a:solidFill>
                  <a:srgbClr val="EA580C"/>
                </a:solidFill>
                <a:latin typeface="Georgia"/>
              </a:rPr>
              <a:t>The Reactive Challenge</a:t>
            </a:r>
          </a:p>
          <a:p>
            <a:pPr>
              <a:lnSpc>
                <a:spcPct val="125000"/>
              </a:lnSpc>
              <a:spcBef>
                <a:spcPts val="1400"/>
              </a:spcBef>
            </a:pPr>
            <a:r>
              <a:rPr sz="1400" b="0" i="0">
                <a:solidFill>
                  <a:srgbClr val="1E293B"/>
                </a:solidFill>
                <a:latin typeface="Arial"/>
              </a:rPr>
              <a:t>Traditional monitoring tools (e.g. dashboards and fixed-threshold alerts) are inherently reactive, notifying infrastructure failures only after they have already occurred. This delay forces IT departments into stressful firefighting modes, driving up downtime costs, eroding customer trust, and generating severe alert fatigue across engineering teams.</a:t>
            </a:r>
          </a:p>
        </p:txBody>
      </p:sp>
      <p:sp>
        <p:nvSpPr>
          <p:cNvPr id="6" name="Rounded Rectangle 5"/>
          <p:cNvSpPr/>
          <p:nvPr/>
        </p:nvSpPr>
        <p:spPr>
          <a:xfrm>
            <a:off x="6309360" y="1645920"/>
            <a:ext cx="5303520" cy="46634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r>
              <a:rPr sz="1800" b="1" i="0">
                <a:solidFill>
                  <a:srgbClr val="0284C7"/>
                </a:solidFill>
                <a:latin typeface="Georgia"/>
              </a:rPr>
              <a:t>The Sentinel Solution &amp; Stack</a:t>
            </a:r>
          </a:p>
          <a:p>
            <a:pPr>
              <a:lnSpc>
                <a:spcPct val="125000"/>
              </a:lnSpc>
              <a:spcBef>
                <a:spcPts val="1400"/>
              </a:spcBef>
            </a:pPr>
            <a:r>
              <a:rPr sz="1400" b="0" i="0">
                <a:solidFill>
                  <a:srgbClr val="1E293B"/>
                </a:solidFill>
                <a:latin typeface="Arial"/>
              </a:rPr>
              <a:t>Sentinel integrates an AI-powered predictive layer into existing telemetry. Guided by a 6-stage lifecycle (Detect, Analyze, Predict, Recommend, Act, Verify), the MVP is scoped to PostgreSQL progressive connection saturation. Telemetry metrics (CPU, RAM, traffic) are ingested via FastAPI, persisted in TimescaleDB, evaluated using scikit-learn (Isolation Forest), and visualized in a unified Grafana container ecosystem managed under Docker Compose.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t>El Costo Invisible del Monitoreo Reactivo de TI</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3383280" cy="4480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r>
              <a:rPr sz="1000" b="1" i="0">
                <a:solidFill>
                  <a:srgbClr val="EA580C"/>
                </a:solidFill>
                <a:latin typeface="Arial"/>
              </a:rPr>
              <a:t>IMPACTO FINANCIERO</a:t>
            </a:r>
          </a:p>
          <a:p>
            <a:pPr>
              <a:spcBef>
                <a:spcPts val="1400"/>
              </a:spcBef>
            </a:pPr>
            <a:r>
              <a:rPr sz="3400" b="1" i="0">
                <a:solidFill>
                  <a:srgbClr val="EA580C"/>
                </a:solidFill>
                <a:latin typeface="Georgia"/>
              </a:rPr>
              <a:t>USD $5,600</a:t>
            </a:r>
          </a:p>
          <a:p>
            <a:r>
              <a:rPr sz="1400" b="1" i="0">
                <a:solidFill>
                  <a:srgbClr val="64748B"/>
                </a:solidFill>
                <a:latin typeface="Arial"/>
              </a:rPr>
              <a:t>/ Minuto</a:t>
            </a:r>
          </a:p>
          <a:p>
            <a:pPr>
              <a:lnSpc>
                <a:spcPct val="120000"/>
              </a:lnSpc>
              <a:spcBef>
                <a:spcPts val="1800"/>
              </a:spcBef>
            </a:pPr>
            <a:r>
              <a:rPr sz="1300" b="0" i="0">
                <a:solidFill>
                  <a:srgbClr val="1E293B"/>
                </a:solidFill>
                <a:latin typeface="Arial"/>
              </a:rPr>
              <a:t>Costo de inactividad no planificada en infraestructura digital crítica, según estudios de la industria (Gartner / ITIC), acumulando pérdidas severas rápidamente.</a:t>
            </a:r>
          </a:p>
        </p:txBody>
      </p:sp>
      <p:sp>
        <p:nvSpPr>
          <p:cNvPr id="6" name="Rounded Rectangle 5"/>
          <p:cNvSpPr/>
          <p:nvPr/>
        </p:nvSpPr>
        <p:spPr>
          <a:xfrm>
            <a:off x="4389120" y="1645920"/>
            <a:ext cx="3383280" cy="4480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r>
              <a:rPr sz="1000" b="1" i="0">
                <a:solidFill>
                  <a:srgbClr val="0284C7"/>
                </a:solidFill>
                <a:latin typeface="Arial"/>
              </a:rPr>
              <a:t>SEÑALES PREVIAS IGNORADAS</a:t>
            </a:r>
          </a:p>
          <a:p>
            <a:pPr>
              <a:spcBef>
                <a:spcPts val="1400"/>
              </a:spcBef>
            </a:pPr>
            <a:r>
              <a:rPr sz="3400" b="1" i="0">
                <a:solidFill>
                  <a:srgbClr val="0284C7"/>
                </a:solidFill>
                <a:latin typeface="Georgia"/>
              </a:rPr>
              <a:t>76%</a:t>
            </a:r>
          </a:p>
          <a:p>
            <a:r>
              <a:rPr sz="1400" b="1" i="0">
                <a:solidFill>
                  <a:srgbClr val="64748B"/>
                </a:solidFill>
                <a:latin typeface="Arial"/>
              </a:rPr>
              <a:t>de Cortes</a:t>
            </a:r>
          </a:p>
          <a:p>
            <a:pPr>
              <a:lnSpc>
                <a:spcPct val="120000"/>
              </a:lnSpc>
              <a:spcBef>
                <a:spcPts val="1800"/>
              </a:spcBef>
            </a:pPr>
            <a:r>
              <a:rPr sz="1300" b="0" i="0">
                <a:solidFill>
                  <a:srgbClr val="1E293B"/>
                </a:solidFill>
                <a:latin typeface="Arial"/>
              </a:rPr>
              <a:t>De los incidentes de caída muestran señales de degradación y anomalías en la telemetría que son pasadas por alto debido a la fatiga de alertas por umbrales fijos.</a:t>
            </a:r>
          </a:p>
        </p:txBody>
      </p:sp>
      <p:sp>
        <p:nvSpPr>
          <p:cNvPr id="7" name="Rounded Rectangle 6"/>
          <p:cNvSpPr/>
          <p:nvPr/>
        </p:nvSpPr>
        <p:spPr>
          <a:xfrm>
            <a:off x="8229600" y="1645920"/>
            <a:ext cx="3383280" cy="4480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r>
              <a:rPr sz="1000" b="1" i="0">
                <a:solidFill>
                  <a:srgbClr val="64748B"/>
                </a:solidFill>
                <a:latin typeface="Arial"/>
              </a:rPr>
              <a:t>TIEMPO REACIO</a:t>
            </a:r>
          </a:p>
          <a:p>
            <a:pPr>
              <a:spcBef>
                <a:spcPts val="1400"/>
              </a:spcBef>
            </a:pPr>
            <a:r>
              <a:rPr sz="3400" b="1" i="0">
                <a:solidFill>
                  <a:srgbClr val="64748B"/>
                </a:solidFill>
                <a:latin typeface="Georgia"/>
              </a:rPr>
              <a:t>40%</a:t>
            </a:r>
          </a:p>
          <a:p>
            <a:r>
              <a:rPr sz="1400" b="1" i="0">
                <a:solidFill>
                  <a:srgbClr val="64748B"/>
                </a:solidFill>
                <a:latin typeface="Arial"/>
              </a:rPr>
              <a:t>de Carga</a:t>
            </a:r>
          </a:p>
          <a:p>
            <a:pPr>
              <a:lnSpc>
                <a:spcPct val="120000"/>
              </a:lnSpc>
              <a:spcBef>
                <a:spcPts val="1800"/>
              </a:spcBef>
            </a:pPr>
            <a:r>
              <a:rPr sz="1300" b="0" i="0">
                <a:solidFill>
                  <a:srgbClr val="1E293B"/>
                </a:solidFill>
                <a:latin typeface="Arial"/>
              </a:rPr>
              <a:t>Del tiempo de los equipos de TI e ingenieros DevOps se consume apagando incendios y diagnosticando de forma reactiva bajo extrema presión.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t>La Propuesta Sentinel: Ciclo Preventivo de 6 Etapas</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645920"/>
            <a:ext cx="11091672" cy="1188720"/>
          </a:xfrm>
          <a:prstGeom prst="rect">
            <a:avLst/>
          </a:prstGeom>
          <a:solidFill>
            <a:srgbClr val="FFFFFF"/>
          </a:solidFill>
          <a:ln>
            <a:solidFill>
              <a:srgbClr val="0284C7"/>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r>
              <a:rPr sz="1000" b="1" i="0" dirty="0">
                <a:solidFill>
                  <a:srgbClr val="0284C7"/>
                </a:solidFill>
                <a:latin typeface="Arial"/>
              </a:rPr>
              <a:t>ELEVATOR PITCH DE SENTINEL</a:t>
            </a:r>
          </a:p>
          <a:p>
            <a:pPr>
              <a:lnSpc>
                <a:spcPct val="115000"/>
              </a:lnSpc>
              <a:spcBef>
                <a:spcPts val="400"/>
              </a:spcBef>
            </a:pPr>
            <a:r>
              <a:rPr sz="1350" b="1" dirty="0">
                <a:solidFill>
                  <a:srgbClr val="1E293B"/>
                </a:solidFill>
                <a:latin typeface="Arial"/>
              </a:rPr>
              <a:t>Para </a:t>
            </a:r>
            <a:r>
              <a:rPr sz="1350" b="1" dirty="0" err="1">
                <a:solidFill>
                  <a:srgbClr val="1E293B"/>
                </a:solidFill>
                <a:latin typeface="Arial"/>
              </a:rPr>
              <a:t>equipos</a:t>
            </a:r>
            <a:r>
              <a:rPr sz="1350" b="1" dirty="0">
                <a:solidFill>
                  <a:srgbClr val="1E293B"/>
                </a:solidFill>
                <a:latin typeface="Arial"/>
              </a:rPr>
              <a:t> de TI </a:t>
            </a:r>
            <a:r>
              <a:rPr sz="1350" b="1" dirty="0" err="1">
                <a:solidFill>
                  <a:srgbClr val="1E293B"/>
                </a:solidFill>
                <a:latin typeface="Arial"/>
              </a:rPr>
              <a:t>pequeños</a:t>
            </a:r>
            <a:r>
              <a:rPr sz="1350" b="1" dirty="0">
                <a:solidFill>
                  <a:srgbClr val="1E293B"/>
                </a:solidFill>
                <a:latin typeface="Arial"/>
              </a:rPr>
              <a:t> y </a:t>
            </a:r>
            <a:r>
              <a:rPr sz="1350" b="1" dirty="0" err="1">
                <a:solidFill>
                  <a:srgbClr val="1E293B"/>
                </a:solidFill>
                <a:latin typeface="Arial"/>
              </a:rPr>
              <a:t>empresas</a:t>
            </a:r>
            <a:r>
              <a:rPr sz="1350" b="1" dirty="0">
                <a:solidFill>
                  <a:srgbClr val="1E293B"/>
                </a:solidFill>
                <a:latin typeface="Arial"/>
              </a:rPr>
              <a:t> con </a:t>
            </a:r>
            <a:r>
              <a:rPr sz="1350" b="1" dirty="0" err="1">
                <a:solidFill>
                  <a:srgbClr val="1E293B"/>
                </a:solidFill>
                <a:latin typeface="Arial"/>
              </a:rPr>
              <a:t>servicios</a:t>
            </a:r>
            <a:r>
              <a:rPr sz="1350" b="1" dirty="0">
                <a:solidFill>
                  <a:srgbClr val="1E293B"/>
                </a:solidFill>
                <a:latin typeface="Arial"/>
              </a:rPr>
              <a:t> web </a:t>
            </a:r>
            <a:r>
              <a:rPr sz="1350" b="1" dirty="0" err="1">
                <a:solidFill>
                  <a:srgbClr val="1E293B"/>
                </a:solidFill>
                <a:latin typeface="Arial"/>
              </a:rPr>
              <a:t>que</a:t>
            </a:r>
            <a:r>
              <a:rPr sz="1350" b="1" dirty="0">
                <a:solidFill>
                  <a:srgbClr val="1E293B"/>
                </a:solidFill>
                <a:latin typeface="Arial"/>
              </a:rPr>
              <a:t> </a:t>
            </a:r>
            <a:r>
              <a:rPr sz="1350" b="1" dirty="0" err="1">
                <a:solidFill>
                  <a:srgbClr val="1E293B"/>
                </a:solidFill>
                <a:latin typeface="Arial"/>
              </a:rPr>
              <a:t>sufren</a:t>
            </a:r>
            <a:r>
              <a:rPr sz="1350" b="1" dirty="0">
                <a:solidFill>
                  <a:srgbClr val="1E293B"/>
                </a:solidFill>
                <a:latin typeface="Arial"/>
              </a:rPr>
              <a:t> </a:t>
            </a:r>
            <a:r>
              <a:rPr sz="1350" b="1" dirty="0" err="1">
                <a:solidFill>
                  <a:srgbClr val="1E293B"/>
                </a:solidFill>
                <a:latin typeface="Arial"/>
              </a:rPr>
              <a:t>pérdidas</a:t>
            </a:r>
            <a:r>
              <a:rPr sz="1350" b="1" dirty="0">
                <a:solidFill>
                  <a:srgbClr val="1E293B"/>
                </a:solidFill>
                <a:latin typeface="Arial"/>
              </a:rPr>
              <a:t> </a:t>
            </a:r>
            <a:r>
              <a:rPr sz="1350" b="1" dirty="0" err="1">
                <a:solidFill>
                  <a:srgbClr val="1E293B"/>
                </a:solidFill>
                <a:latin typeface="Arial"/>
              </a:rPr>
              <a:t>por</a:t>
            </a:r>
            <a:r>
              <a:rPr sz="1350" b="1" dirty="0">
                <a:solidFill>
                  <a:srgbClr val="1E293B"/>
                </a:solidFill>
                <a:latin typeface="Arial"/>
              </a:rPr>
              <a:t> downtime, Sentinel es un </a:t>
            </a:r>
            <a:r>
              <a:rPr sz="1350" b="1" dirty="0" err="1">
                <a:solidFill>
                  <a:srgbClr val="1E293B"/>
                </a:solidFill>
                <a:latin typeface="Arial"/>
              </a:rPr>
              <a:t>sistema</a:t>
            </a:r>
            <a:r>
              <a:rPr sz="1350" b="1" dirty="0">
                <a:solidFill>
                  <a:srgbClr val="1E293B"/>
                </a:solidFill>
                <a:latin typeface="Arial"/>
              </a:rPr>
              <a:t> </a:t>
            </a:r>
            <a:r>
              <a:rPr sz="1350" b="1" dirty="0" err="1">
                <a:solidFill>
                  <a:srgbClr val="1E293B"/>
                </a:solidFill>
                <a:latin typeface="Arial"/>
              </a:rPr>
              <a:t>inteligente</a:t>
            </a:r>
            <a:r>
              <a:rPr sz="1350" b="1" dirty="0">
                <a:solidFill>
                  <a:srgbClr val="1E293B"/>
                </a:solidFill>
                <a:latin typeface="Arial"/>
              </a:rPr>
              <a:t> de </a:t>
            </a:r>
            <a:r>
              <a:rPr sz="1350" b="1" dirty="0" err="1">
                <a:solidFill>
                  <a:srgbClr val="1E293B"/>
                </a:solidFill>
                <a:latin typeface="Arial"/>
              </a:rPr>
              <a:t>prevención</a:t>
            </a:r>
            <a:r>
              <a:rPr sz="1350" b="1" dirty="0">
                <a:solidFill>
                  <a:srgbClr val="1E293B"/>
                </a:solidFill>
                <a:latin typeface="Arial"/>
              </a:rPr>
              <a:t> de </a:t>
            </a:r>
            <a:r>
              <a:rPr sz="1350" b="1" dirty="0" err="1">
                <a:solidFill>
                  <a:srgbClr val="1E293B"/>
                </a:solidFill>
                <a:latin typeface="Arial"/>
              </a:rPr>
              <a:t>incidentes</a:t>
            </a:r>
            <a:r>
              <a:rPr sz="1350" b="1" dirty="0">
                <a:solidFill>
                  <a:srgbClr val="1E293B"/>
                </a:solidFill>
                <a:latin typeface="Arial"/>
              </a:rPr>
              <a:t>. A </a:t>
            </a:r>
            <a:r>
              <a:rPr sz="1350" b="1" dirty="0" err="1">
                <a:solidFill>
                  <a:srgbClr val="1E293B"/>
                </a:solidFill>
                <a:latin typeface="Arial"/>
              </a:rPr>
              <a:t>diferencia</a:t>
            </a:r>
            <a:r>
              <a:rPr sz="1350" b="1" dirty="0">
                <a:solidFill>
                  <a:srgbClr val="1E293B"/>
                </a:solidFill>
                <a:latin typeface="Arial"/>
              </a:rPr>
              <a:t> de las </a:t>
            </a:r>
            <a:r>
              <a:rPr sz="1350" b="1" dirty="0" err="1">
                <a:solidFill>
                  <a:srgbClr val="1E293B"/>
                </a:solidFill>
                <a:latin typeface="Arial"/>
              </a:rPr>
              <a:t>alertas</a:t>
            </a:r>
            <a:r>
              <a:rPr sz="1350" b="1" dirty="0">
                <a:solidFill>
                  <a:srgbClr val="1E293B"/>
                </a:solidFill>
                <a:latin typeface="Arial"/>
              </a:rPr>
              <a:t> </a:t>
            </a:r>
            <a:r>
              <a:rPr sz="1350" b="1" dirty="0" err="1">
                <a:solidFill>
                  <a:srgbClr val="1E293B"/>
                </a:solidFill>
                <a:latin typeface="Arial"/>
              </a:rPr>
              <a:t>reactivas</a:t>
            </a:r>
            <a:r>
              <a:rPr sz="1350" b="1" dirty="0">
                <a:solidFill>
                  <a:srgbClr val="1E293B"/>
                </a:solidFill>
                <a:latin typeface="Arial"/>
              </a:rPr>
              <a:t>, </a:t>
            </a:r>
            <a:r>
              <a:rPr sz="1350" b="1" dirty="0" err="1">
                <a:solidFill>
                  <a:srgbClr val="1E293B"/>
                </a:solidFill>
                <a:latin typeface="Arial"/>
              </a:rPr>
              <a:t>nuestra</a:t>
            </a:r>
            <a:r>
              <a:rPr sz="1350" b="1" dirty="0">
                <a:solidFill>
                  <a:srgbClr val="1E293B"/>
                </a:solidFill>
                <a:latin typeface="Arial"/>
              </a:rPr>
              <a:t> </a:t>
            </a:r>
            <a:r>
              <a:rPr sz="1350" b="1" dirty="0" err="1">
                <a:solidFill>
                  <a:srgbClr val="1E293B"/>
                </a:solidFill>
                <a:latin typeface="Arial"/>
              </a:rPr>
              <a:t>solución</a:t>
            </a:r>
            <a:r>
              <a:rPr sz="1350" b="1" dirty="0">
                <a:solidFill>
                  <a:srgbClr val="1E293B"/>
                </a:solidFill>
                <a:latin typeface="Arial"/>
              </a:rPr>
              <a:t> </a:t>
            </a:r>
            <a:r>
              <a:rPr sz="1350" b="1" dirty="0" err="1">
                <a:solidFill>
                  <a:srgbClr val="1E293B"/>
                </a:solidFill>
                <a:latin typeface="Arial"/>
              </a:rPr>
              <a:t>predice</a:t>
            </a:r>
            <a:r>
              <a:rPr sz="1350" b="1" dirty="0">
                <a:solidFill>
                  <a:srgbClr val="1E293B"/>
                </a:solidFill>
                <a:latin typeface="Arial"/>
              </a:rPr>
              <a:t> la </a:t>
            </a:r>
            <a:r>
              <a:rPr sz="1350" b="1" dirty="0" err="1">
                <a:solidFill>
                  <a:srgbClr val="1E293B"/>
                </a:solidFill>
                <a:latin typeface="Arial"/>
              </a:rPr>
              <a:t>degradación</a:t>
            </a:r>
            <a:r>
              <a:rPr sz="1350" b="1" dirty="0">
                <a:solidFill>
                  <a:srgbClr val="1E293B"/>
                </a:solidFill>
                <a:latin typeface="Arial"/>
              </a:rPr>
              <a:t> de </a:t>
            </a:r>
            <a:r>
              <a:rPr sz="1350" b="1" dirty="0" err="1">
                <a:solidFill>
                  <a:srgbClr val="1E293B"/>
                </a:solidFill>
                <a:latin typeface="Arial"/>
              </a:rPr>
              <a:t>infraestructura</a:t>
            </a:r>
            <a:r>
              <a:rPr sz="1350" b="1" dirty="0">
                <a:solidFill>
                  <a:srgbClr val="1E293B"/>
                </a:solidFill>
                <a:latin typeface="Arial"/>
              </a:rPr>
              <a:t> y prescribe </a:t>
            </a:r>
            <a:r>
              <a:rPr sz="1350" b="1" dirty="0" err="1">
                <a:solidFill>
                  <a:srgbClr val="1E293B"/>
                </a:solidFill>
                <a:latin typeface="Arial"/>
              </a:rPr>
              <a:t>una</a:t>
            </a:r>
            <a:r>
              <a:rPr sz="1350" b="1" dirty="0">
                <a:solidFill>
                  <a:srgbClr val="1E293B"/>
                </a:solidFill>
                <a:latin typeface="Arial"/>
              </a:rPr>
              <a:t> </a:t>
            </a:r>
            <a:r>
              <a:rPr sz="1350" b="1" dirty="0" err="1">
                <a:solidFill>
                  <a:srgbClr val="1E293B"/>
                </a:solidFill>
                <a:latin typeface="Arial"/>
              </a:rPr>
              <a:t>mitigación</a:t>
            </a:r>
            <a:r>
              <a:rPr sz="1350" b="1" dirty="0">
                <a:solidFill>
                  <a:srgbClr val="1E293B"/>
                </a:solidFill>
                <a:latin typeface="Arial"/>
              </a:rPr>
              <a:t> </a:t>
            </a:r>
            <a:r>
              <a:rPr sz="1350" b="1" dirty="0" err="1">
                <a:solidFill>
                  <a:srgbClr val="1E293B"/>
                </a:solidFill>
                <a:latin typeface="Arial"/>
              </a:rPr>
              <a:t>automática</a:t>
            </a:r>
            <a:r>
              <a:rPr sz="1350" b="1" dirty="0">
                <a:solidFill>
                  <a:srgbClr val="1E293B"/>
                </a:solidFill>
                <a:latin typeface="Arial"/>
              </a:rPr>
              <a:t> con </a:t>
            </a:r>
            <a:r>
              <a:rPr sz="1350" b="1" dirty="0" err="1">
                <a:solidFill>
                  <a:srgbClr val="1E293B"/>
                </a:solidFill>
                <a:latin typeface="Arial"/>
              </a:rPr>
              <a:t>minutos</a:t>
            </a:r>
            <a:r>
              <a:rPr sz="1350" b="1" dirty="0">
                <a:solidFill>
                  <a:srgbClr val="1E293B"/>
                </a:solidFill>
                <a:latin typeface="Arial"/>
              </a:rPr>
              <a:t> de </a:t>
            </a:r>
            <a:r>
              <a:rPr sz="1350" b="1" dirty="0" err="1">
                <a:solidFill>
                  <a:srgbClr val="1E293B"/>
                </a:solidFill>
                <a:latin typeface="Arial"/>
              </a:rPr>
              <a:t>antelación</a:t>
            </a:r>
            <a:r>
              <a:rPr sz="1350" b="1" dirty="0">
                <a:solidFill>
                  <a:srgbClr val="1E293B"/>
                </a:solidFill>
                <a:latin typeface="Arial"/>
              </a:rPr>
              <a:t>.</a:t>
            </a:r>
          </a:p>
        </p:txBody>
      </p:sp>
      <p:sp>
        <p:nvSpPr>
          <p:cNvPr id="6" name="Rounded Rectangle 5"/>
          <p:cNvSpPr/>
          <p:nvPr/>
        </p:nvSpPr>
        <p:spPr>
          <a:xfrm>
            <a:off x="548640" y="3108960"/>
            <a:ext cx="3474720" cy="14630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r>
              <a:rPr sz="1400" b="1" i="0">
                <a:solidFill>
                  <a:srgbClr val="0284C7"/>
                </a:solidFill>
                <a:latin typeface="Georgia"/>
              </a:rPr>
              <a:t>01. Detectar</a:t>
            </a:r>
          </a:p>
          <a:p>
            <a:pPr>
              <a:lnSpc>
                <a:spcPct val="115000"/>
              </a:lnSpc>
              <a:spcBef>
                <a:spcPts val="400"/>
              </a:spcBef>
            </a:pPr>
            <a:r>
              <a:rPr sz="1150" b="0" i="0">
                <a:solidFill>
                  <a:srgbClr val="1E293B"/>
                </a:solidFill>
                <a:latin typeface="Arial"/>
              </a:rPr>
              <a:t>Captura telemetría de CPU, RAM, solicitudes y conexiones en PostgreSQL de manera continua.</a:t>
            </a:r>
          </a:p>
        </p:txBody>
      </p:sp>
      <p:sp>
        <p:nvSpPr>
          <p:cNvPr id="7" name="Rounded Rectangle 6"/>
          <p:cNvSpPr/>
          <p:nvPr/>
        </p:nvSpPr>
        <p:spPr>
          <a:xfrm>
            <a:off x="4343400" y="3108960"/>
            <a:ext cx="3474720" cy="14630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r>
              <a:rPr sz="1400" b="1" i="0">
                <a:solidFill>
                  <a:srgbClr val="0284C7"/>
                </a:solidFill>
                <a:latin typeface="Georgia"/>
              </a:rPr>
              <a:t>02. Analizar</a:t>
            </a:r>
          </a:p>
          <a:p>
            <a:pPr>
              <a:lnSpc>
                <a:spcPct val="115000"/>
              </a:lnSpc>
              <a:spcBef>
                <a:spcPts val="400"/>
              </a:spcBef>
            </a:pPr>
            <a:r>
              <a:rPr sz="1150" b="0" i="0">
                <a:solidFill>
                  <a:srgbClr val="1E293B"/>
                </a:solidFill>
                <a:latin typeface="Arial"/>
              </a:rPr>
              <a:t>Procesa los datos históricos y corrientes para detectar desviaciones anómalas e indicios de fatiga.</a:t>
            </a:r>
          </a:p>
        </p:txBody>
      </p:sp>
      <p:sp>
        <p:nvSpPr>
          <p:cNvPr id="8" name="Rounded Rectangle 7"/>
          <p:cNvSpPr/>
          <p:nvPr/>
        </p:nvSpPr>
        <p:spPr>
          <a:xfrm>
            <a:off x="8138160" y="3108960"/>
            <a:ext cx="3474720" cy="14630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r>
              <a:rPr sz="1400" b="1" i="0">
                <a:solidFill>
                  <a:srgbClr val="0284C7"/>
                </a:solidFill>
                <a:latin typeface="Georgia"/>
              </a:rPr>
              <a:t>03. Predecir</a:t>
            </a:r>
          </a:p>
          <a:p>
            <a:pPr>
              <a:lnSpc>
                <a:spcPct val="115000"/>
              </a:lnSpc>
              <a:spcBef>
                <a:spcPts val="400"/>
              </a:spcBef>
            </a:pPr>
            <a:r>
              <a:rPr sz="1150" b="0" i="0">
                <a:solidFill>
                  <a:srgbClr val="1E293B"/>
                </a:solidFill>
                <a:latin typeface="Arial"/>
              </a:rPr>
              <a:t>Calcula la probabilidad de falla inminente y proyecta la holgura en minutos hasta el colapso de pool.</a:t>
            </a:r>
          </a:p>
        </p:txBody>
      </p:sp>
      <p:sp>
        <p:nvSpPr>
          <p:cNvPr id="9" name="Rounded Rectangle 8"/>
          <p:cNvSpPr/>
          <p:nvPr/>
        </p:nvSpPr>
        <p:spPr>
          <a:xfrm>
            <a:off x="548640" y="4754880"/>
            <a:ext cx="3474720" cy="14630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r>
              <a:rPr sz="1400" b="1" i="0">
                <a:solidFill>
                  <a:srgbClr val="0284C7"/>
                </a:solidFill>
                <a:latin typeface="Georgia"/>
              </a:rPr>
              <a:t>04. Recomendar</a:t>
            </a:r>
          </a:p>
          <a:p>
            <a:pPr>
              <a:lnSpc>
                <a:spcPct val="115000"/>
              </a:lnSpc>
              <a:spcBef>
                <a:spcPts val="400"/>
              </a:spcBef>
            </a:pPr>
            <a:r>
              <a:rPr sz="1150" b="0" i="0">
                <a:solidFill>
                  <a:srgbClr val="1E293B"/>
                </a:solidFill>
                <a:latin typeface="Arial"/>
              </a:rPr>
              <a:t>Un motor heurístico basado en reglas asocia la anomalía con la causa raíz y asume sugerencias.</a:t>
            </a:r>
          </a:p>
        </p:txBody>
      </p:sp>
      <p:sp>
        <p:nvSpPr>
          <p:cNvPr id="10" name="Rounded Rectangle 9"/>
          <p:cNvSpPr/>
          <p:nvPr/>
        </p:nvSpPr>
        <p:spPr>
          <a:xfrm>
            <a:off x="4343400" y="4754880"/>
            <a:ext cx="3474720" cy="14630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r>
              <a:rPr sz="1400" b="1" i="0">
                <a:solidFill>
                  <a:srgbClr val="0284C7"/>
                </a:solidFill>
                <a:latin typeface="Georgia"/>
              </a:rPr>
              <a:t>05. Actuar</a:t>
            </a:r>
          </a:p>
          <a:p>
            <a:pPr>
              <a:lnSpc>
                <a:spcPct val="115000"/>
              </a:lnSpc>
              <a:spcBef>
                <a:spcPts val="400"/>
              </a:spcBef>
            </a:pPr>
            <a:r>
              <a:rPr sz="1150" b="0" i="0">
                <a:solidFill>
                  <a:srgbClr val="1E293B"/>
                </a:solidFill>
                <a:latin typeface="Arial"/>
              </a:rPr>
              <a:t>Ejecuta o simula la contención (ej. reiniciar el pool o escalar recursos) de forma automática y segura.</a:t>
            </a:r>
          </a:p>
        </p:txBody>
      </p:sp>
      <p:sp>
        <p:nvSpPr>
          <p:cNvPr id="11" name="Rounded Rectangle 10"/>
          <p:cNvSpPr/>
          <p:nvPr/>
        </p:nvSpPr>
        <p:spPr>
          <a:xfrm>
            <a:off x="8138160" y="4754880"/>
            <a:ext cx="3474720" cy="14630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37160" rIns="182880" rtlCol="0" anchor="ctr"/>
          <a:lstStyle/>
          <a:p>
            <a:pPr algn="ctr"/>
            <a:r>
              <a:rPr sz="1400" b="1" i="0">
                <a:solidFill>
                  <a:srgbClr val="0284C7"/>
                </a:solidFill>
                <a:latin typeface="Georgia"/>
              </a:rPr>
              <a:t>06. Verificar</a:t>
            </a:r>
          </a:p>
          <a:p>
            <a:pPr>
              <a:lnSpc>
                <a:spcPct val="115000"/>
              </a:lnSpc>
              <a:spcBef>
                <a:spcPts val="400"/>
              </a:spcBef>
            </a:pPr>
            <a:r>
              <a:rPr sz="1150" b="0" i="0">
                <a:solidFill>
                  <a:srgbClr val="1E293B"/>
                </a:solidFill>
                <a:latin typeface="Arial"/>
              </a:rPr>
              <a:t>Audita el estado de la base de datos post-acción, validando el retorno estable a rangos tolerables.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t>Público Objetivo: Usuarios Operativos y Compradores de Negocio</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5303520" cy="46634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320040" tIns="320040" rIns="320040" rtlCol="0" anchor="ctr"/>
          <a:lstStyle/>
          <a:p>
            <a:pPr algn="ctr"/>
            <a:r>
              <a:rPr sz="1800" b="1" i="0">
                <a:solidFill>
                  <a:srgbClr val="0284C7"/>
                </a:solidFill>
                <a:latin typeface="Georgia"/>
              </a:rPr>
              <a:t>Usuarios Operativos (Soporte TI)</a:t>
            </a:r>
          </a:p>
          <a:p>
            <a:pPr>
              <a:lnSpc>
                <a:spcPct val="115000"/>
              </a:lnSpc>
              <a:spcBef>
                <a:spcPts val="1200"/>
              </a:spcBef>
            </a:pPr>
            <a:r>
              <a:rPr sz="1300" b="1" i="0">
                <a:solidFill>
                  <a:srgbClr val="1E293B"/>
                </a:solidFill>
                <a:latin typeface="Arial"/>
              </a:rPr>
              <a:t>Perfil Típico</a:t>
            </a:r>
            <a:r>
              <a:rPr sz="1300" b="0" i="0">
                <a:solidFill>
                  <a:srgbClr val="1E293B"/>
                </a:solidFill>
                <a:latin typeface="Arial"/>
              </a:rPr>
              <a:t>: Administradores de Sistemas, Ingenieros DevOps, Desarrolladores y Encargados de Soporte TI.</a:t>
            </a:r>
          </a:p>
          <a:p>
            <a:pPr>
              <a:lnSpc>
                <a:spcPct val="115000"/>
              </a:lnSpc>
              <a:spcBef>
                <a:spcPts val="1200"/>
              </a:spcBef>
            </a:pPr>
            <a:r>
              <a:rPr sz="1300" b="1" i="0">
                <a:solidFill>
                  <a:srgbClr val="1E293B"/>
                </a:solidFill>
                <a:latin typeface="Arial"/>
              </a:rPr>
              <a:t>Dolor Crítico</a:t>
            </a:r>
            <a:r>
              <a:rPr sz="1300" b="0" i="0">
                <a:solidFill>
                  <a:srgbClr val="1E293B"/>
                </a:solidFill>
                <a:latin typeface="Arial"/>
              </a:rPr>
              <a:t>: Agotamiento técnico y 'fatiga de alertas' provocado por falsas alarmas persistentes y alertas ruidosas.</a:t>
            </a:r>
          </a:p>
          <a:p>
            <a:pPr>
              <a:lnSpc>
                <a:spcPct val="115000"/>
              </a:lnSpc>
              <a:spcBef>
                <a:spcPts val="1200"/>
              </a:spcBef>
            </a:pPr>
            <a:r>
              <a:rPr sz="1300" b="1" i="0">
                <a:solidFill>
                  <a:srgbClr val="1E293B"/>
                </a:solidFill>
                <a:latin typeface="Arial"/>
              </a:rPr>
              <a:t>Objetivo Sentinel</a:t>
            </a:r>
            <a:r>
              <a:rPr sz="1300" b="0" i="0">
                <a:solidFill>
                  <a:srgbClr val="1E293B"/>
                </a:solidFill>
                <a:latin typeface="Arial"/>
              </a:rPr>
              <a:t>: Proveer un dashboard unificado que asocie de inmediato el diagnóstico y reduzca el MTTR drásticamente.</a:t>
            </a:r>
          </a:p>
          <a:p>
            <a:pPr>
              <a:lnSpc>
                <a:spcPct val="115000"/>
              </a:lnSpc>
              <a:spcBef>
                <a:spcPts val="1200"/>
              </a:spcBef>
            </a:pPr>
            <a:r>
              <a:rPr sz="1300" b="1" i="0">
                <a:solidFill>
                  <a:srgbClr val="1E293B"/>
                </a:solidFill>
                <a:latin typeface="Arial"/>
              </a:rPr>
              <a:t>Impacto Directo</a:t>
            </a:r>
            <a:r>
              <a:rPr sz="1300" b="0" i="0">
                <a:solidFill>
                  <a:srgbClr val="1E293B"/>
                </a:solidFill>
                <a:latin typeface="Arial"/>
              </a:rPr>
              <a:t>: Descompresión operativa al recibir recomendaciones exactas sobre qué componente está fallando y cómo mitigarlo.</a:t>
            </a:r>
          </a:p>
        </p:txBody>
      </p:sp>
      <p:sp>
        <p:nvSpPr>
          <p:cNvPr id="6" name="Rounded Rectangle 5"/>
          <p:cNvSpPr/>
          <p:nvPr/>
        </p:nvSpPr>
        <p:spPr>
          <a:xfrm>
            <a:off x="6309360" y="1645920"/>
            <a:ext cx="5303520" cy="46634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320040" tIns="320040" rIns="320040" rtlCol="0" anchor="ctr"/>
          <a:lstStyle/>
          <a:p>
            <a:pPr algn="ctr"/>
            <a:r>
              <a:rPr sz="1800" b="1" i="0">
                <a:solidFill>
                  <a:srgbClr val="EA580C"/>
                </a:solidFill>
                <a:latin typeface="Georgia"/>
              </a:rPr>
              <a:t>Clientes / Compradores (Negocio)</a:t>
            </a:r>
          </a:p>
          <a:p>
            <a:pPr>
              <a:lnSpc>
                <a:spcPct val="115000"/>
              </a:lnSpc>
              <a:spcBef>
                <a:spcPts val="1200"/>
              </a:spcBef>
            </a:pPr>
            <a:r>
              <a:rPr sz="1300" b="1" i="0">
                <a:solidFill>
                  <a:srgbClr val="1E293B"/>
                </a:solidFill>
                <a:latin typeface="Arial"/>
              </a:rPr>
              <a:t>Perfil Típico</a:t>
            </a:r>
            <a:r>
              <a:rPr sz="1300" b="0" i="0">
                <a:solidFill>
                  <a:srgbClr val="1E293B"/>
                </a:solidFill>
                <a:latin typeface="Arial"/>
              </a:rPr>
              <a:t>: Pequeñas y Medianas Empresas (Pymes), Startups Tecnológicas y Empresas con fuerte presencia en servicios web.</a:t>
            </a:r>
          </a:p>
          <a:p>
            <a:pPr>
              <a:lnSpc>
                <a:spcPct val="115000"/>
              </a:lnSpc>
              <a:spcBef>
                <a:spcPts val="1200"/>
              </a:spcBef>
            </a:pPr>
            <a:r>
              <a:rPr sz="1300" b="1" i="0">
                <a:solidFill>
                  <a:srgbClr val="1E293B"/>
                </a:solidFill>
                <a:latin typeface="Arial"/>
              </a:rPr>
              <a:t>Dolor Crítico</a:t>
            </a:r>
            <a:r>
              <a:rPr sz="1300" b="0" i="0">
                <a:solidFill>
                  <a:srgbClr val="1E293B"/>
                </a:solidFill>
                <a:latin typeface="Arial"/>
              </a:rPr>
              <a:t>: Caídas de servicio que inducen pérdidas monetarias directas, multas por SLA y fuga de confianza del usuario.</a:t>
            </a:r>
          </a:p>
          <a:p>
            <a:pPr>
              <a:lnSpc>
                <a:spcPct val="115000"/>
              </a:lnSpc>
              <a:spcBef>
                <a:spcPts val="1200"/>
              </a:spcBef>
            </a:pPr>
            <a:r>
              <a:rPr sz="1300" b="1" i="0">
                <a:solidFill>
                  <a:srgbClr val="1E293B"/>
                </a:solidFill>
                <a:latin typeface="Arial"/>
              </a:rPr>
              <a:t>Objetivo Sentinel</a:t>
            </a:r>
            <a:r>
              <a:rPr sz="1300" b="0" i="0">
                <a:solidFill>
                  <a:srgbClr val="1E293B"/>
                </a:solidFill>
                <a:latin typeface="Arial"/>
              </a:rPr>
              <a:t>: Resguardar los ingresos y la continuidad operacional del negocio de forma automatizada y transparente.</a:t>
            </a:r>
          </a:p>
          <a:p>
            <a:pPr>
              <a:lnSpc>
                <a:spcPct val="115000"/>
              </a:lnSpc>
              <a:spcBef>
                <a:spcPts val="1200"/>
              </a:spcBef>
            </a:pPr>
            <a:r>
              <a:rPr sz="1300" b="1" i="0">
                <a:solidFill>
                  <a:srgbClr val="1E293B"/>
                </a:solidFill>
                <a:latin typeface="Arial"/>
              </a:rPr>
              <a:t>Viabilidad de Costo</a:t>
            </a:r>
            <a:r>
              <a:rPr sz="1300" b="0" i="0">
                <a:solidFill>
                  <a:srgbClr val="1E293B"/>
                </a:solidFill>
                <a:latin typeface="Arial"/>
              </a:rPr>
              <a:t>: Solución construida enteramente sobre bases y herramientas de código abierto, evitando licencias costosas.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t>Cambio de Comportamiento y Cascada de los 5 '¿Para qué?'</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4114800" cy="46634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74320" tIns="320040" rIns="274320" rtlCol="0" anchor="ctr"/>
          <a:lstStyle/>
          <a:p>
            <a:pPr algn="ctr"/>
            <a:r>
              <a:rPr sz="1800" b="1" i="0" dirty="0">
                <a:solidFill>
                  <a:srgbClr val="1E293B"/>
                </a:solidFill>
                <a:latin typeface="Georgia"/>
              </a:rPr>
              <a:t>Cambio de </a:t>
            </a:r>
            <a:r>
              <a:rPr sz="1800" b="1" i="0" dirty="0" err="1">
                <a:solidFill>
                  <a:srgbClr val="1E293B"/>
                </a:solidFill>
                <a:latin typeface="Georgia"/>
              </a:rPr>
              <a:t>Comportamiento</a:t>
            </a:r>
            <a:endParaRPr sz="1800" b="1" i="0" dirty="0">
              <a:solidFill>
                <a:srgbClr val="1E293B"/>
              </a:solidFill>
              <a:latin typeface="Georgia"/>
            </a:endParaRPr>
          </a:p>
          <a:p>
            <a:pPr>
              <a:lnSpc>
                <a:spcPct val="115000"/>
              </a:lnSpc>
              <a:spcBef>
                <a:spcPts val="1400"/>
              </a:spcBef>
            </a:pPr>
            <a:r>
              <a:rPr sz="1350" b="0" i="0" dirty="0">
                <a:solidFill>
                  <a:srgbClr val="1E293B"/>
                </a:solidFill>
                <a:latin typeface="Arial"/>
              </a:rPr>
              <a:t>El fin </a:t>
            </a:r>
            <a:r>
              <a:rPr sz="1350" b="0" i="0" dirty="0" err="1">
                <a:solidFill>
                  <a:srgbClr val="1E293B"/>
                </a:solidFill>
                <a:latin typeface="Arial"/>
              </a:rPr>
              <a:t>último</a:t>
            </a:r>
            <a:r>
              <a:rPr sz="1350" b="0" i="0" dirty="0">
                <a:solidFill>
                  <a:srgbClr val="1E293B"/>
                </a:solidFill>
                <a:latin typeface="Arial"/>
              </a:rPr>
              <a:t> de Sentinel es </a:t>
            </a:r>
            <a:r>
              <a:rPr sz="1350" b="0" i="0" dirty="0" err="1">
                <a:solidFill>
                  <a:srgbClr val="1E293B"/>
                </a:solidFill>
                <a:latin typeface="Arial"/>
              </a:rPr>
              <a:t>inducir</a:t>
            </a:r>
            <a:r>
              <a:rPr sz="1350" b="0" i="0" dirty="0">
                <a:solidFill>
                  <a:srgbClr val="1E293B"/>
                </a:solidFill>
                <a:latin typeface="Arial"/>
              </a:rPr>
              <a:t> </a:t>
            </a:r>
            <a:r>
              <a:rPr sz="1350" b="0" i="0" dirty="0" err="1">
                <a:solidFill>
                  <a:srgbClr val="1E293B"/>
                </a:solidFill>
                <a:latin typeface="Arial"/>
              </a:rPr>
              <a:t>una</a:t>
            </a:r>
            <a:r>
              <a:rPr sz="1350" b="0" i="0" dirty="0">
                <a:solidFill>
                  <a:srgbClr val="1E293B"/>
                </a:solidFill>
                <a:latin typeface="Arial"/>
              </a:rPr>
              <a:t> </a:t>
            </a:r>
            <a:r>
              <a:rPr sz="1350" b="0" i="0" dirty="0" err="1">
                <a:solidFill>
                  <a:srgbClr val="1E293B"/>
                </a:solidFill>
                <a:latin typeface="Arial"/>
              </a:rPr>
              <a:t>transformación</a:t>
            </a:r>
            <a:r>
              <a:rPr sz="1350" b="0" i="0" dirty="0">
                <a:solidFill>
                  <a:srgbClr val="1E293B"/>
                </a:solidFill>
                <a:latin typeface="Arial"/>
              </a:rPr>
              <a:t> de la </a:t>
            </a:r>
            <a:r>
              <a:rPr sz="1350" b="0" i="0" dirty="0" err="1">
                <a:solidFill>
                  <a:srgbClr val="1E293B"/>
                </a:solidFill>
                <a:latin typeface="Arial"/>
              </a:rPr>
              <a:t>cultura</a:t>
            </a:r>
            <a:r>
              <a:rPr sz="1350" b="0" i="0" dirty="0">
                <a:solidFill>
                  <a:srgbClr val="1E293B"/>
                </a:solidFill>
                <a:latin typeface="Arial"/>
              </a:rPr>
              <a:t> </a:t>
            </a:r>
            <a:r>
              <a:rPr sz="1350" b="0" i="0" dirty="0" err="1">
                <a:solidFill>
                  <a:srgbClr val="1E293B"/>
                </a:solidFill>
                <a:latin typeface="Arial"/>
              </a:rPr>
              <a:t>organizacional</a:t>
            </a:r>
            <a:r>
              <a:rPr sz="1350" b="0" i="0" dirty="0">
                <a:solidFill>
                  <a:srgbClr val="1E293B"/>
                </a:solidFill>
                <a:latin typeface="Arial"/>
              </a:rPr>
              <a:t>:
</a:t>
            </a:r>
            <a:r>
              <a:rPr sz="1350" b="1" i="0" dirty="0">
                <a:solidFill>
                  <a:srgbClr val="1E293B"/>
                </a:solidFill>
                <a:latin typeface="Arial"/>
              </a:rPr>
              <a:t>• De un </a:t>
            </a:r>
            <a:r>
              <a:rPr sz="1350" b="1" i="0" dirty="0" err="1">
                <a:solidFill>
                  <a:srgbClr val="1E293B"/>
                </a:solidFill>
                <a:latin typeface="Arial"/>
              </a:rPr>
              <a:t>modelo</a:t>
            </a:r>
            <a:r>
              <a:rPr sz="1350" b="1" i="0" dirty="0">
                <a:solidFill>
                  <a:srgbClr val="1E293B"/>
                </a:solidFill>
                <a:latin typeface="Arial"/>
              </a:rPr>
              <a:t> </a:t>
            </a:r>
            <a:r>
              <a:rPr sz="1350" b="1" i="0" dirty="0" err="1">
                <a:solidFill>
                  <a:srgbClr val="1E293B"/>
                </a:solidFill>
                <a:latin typeface="Arial"/>
              </a:rPr>
              <a:t>Reactivo</a:t>
            </a:r>
            <a:r>
              <a:rPr sz="1350" b="1" i="0" dirty="0">
                <a:solidFill>
                  <a:srgbClr val="1E293B"/>
                </a:solidFill>
                <a:latin typeface="Arial"/>
              </a:rPr>
              <a:t>: </a:t>
            </a:r>
            <a:r>
              <a:rPr sz="1300" b="0" i="0" dirty="0" err="1">
                <a:solidFill>
                  <a:srgbClr val="64748B"/>
                </a:solidFill>
                <a:latin typeface="Arial"/>
              </a:rPr>
              <a:t>donde</a:t>
            </a:r>
            <a:r>
              <a:rPr sz="1300" b="0" i="0" dirty="0">
                <a:solidFill>
                  <a:srgbClr val="64748B"/>
                </a:solidFill>
                <a:latin typeface="Arial"/>
              </a:rPr>
              <a:t> el </a:t>
            </a:r>
            <a:r>
              <a:rPr sz="1300" b="0" i="0" dirty="0" err="1">
                <a:solidFill>
                  <a:srgbClr val="64748B"/>
                </a:solidFill>
                <a:latin typeface="Arial"/>
              </a:rPr>
              <a:t>equipo</a:t>
            </a:r>
            <a:r>
              <a:rPr sz="1300" b="0" i="0" dirty="0">
                <a:solidFill>
                  <a:srgbClr val="64748B"/>
                </a:solidFill>
                <a:latin typeface="Arial"/>
              </a:rPr>
              <a:t> </a:t>
            </a:r>
            <a:r>
              <a:rPr sz="1300" b="0" i="0" dirty="0" err="1">
                <a:solidFill>
                  <a:srgbClr val="64748B"/>
                </a:solidFill>
                <a:latin typeface="Arial"/>
              </a:rPr>
              <a:t>técnico</a:t>
            </a:r>
            <a:r>
              <a:rPr sz="1300" b="0" i="0" dirty="0">
                <a:solidFill>
                  <a:srgbClr val="64748B"/>
                </a:solidFill>
                <a:latin typeface="Arial"/>
              </a:rPr>
              <a:t> </a:t>
            </a:r>
            <a:r>
              <a:rPr sz="1300" b="0" i="0" dirty="0" err="1">
                <a:solidFill>
                  <a:srgbClr val="64748B"/>
                </a:solidFill>
                <a:latin typeface="Arial"/>
              </a:rPr>
              <a:t>actúa</a:t>
            </a:r>
            <a:r>
              <a:rPr sz="1300" b="0" i="0" dirty="0">
                <a:solidFill>
                  <a:srgbClr val="64748B"/>
                </a:solidFill>
                <a:latin typeface="Arial"/>
              </a:rPr>
              <a:t> bajo </a:t>
            </a:r>
            <a:r>
              <a:rPr sz="1300" b="0" i="0" dirty="0" err="1">
                <a:solidFill>
                  <a:srgbClr val="64748B"/>
                </a:solidFill>
                <a:latin typeface="Arial"/>
              </a:rPr>
              <a:t>pánico</a:t>
            </a:r>
            <a:r>
              <a:rPr sz="1300" b="0" i="0" dirty="0">
                <a:solidFill>
                  <a:srgbClr val="64748B"/>
                </a:solidFill>
                <a:latin typeface="Arial"/>
              </a:rPr>
              <a:t> </a:t>
            </a:r>
            <a:r>
              <a:rPr sz="1300" b="0" i="0" dirty="0" err="1">
                <a:solidFill>
                  <a:srgbClr val="64748B"/>
                </a:solidFill>
                <a:latin typeface="Arial"/>
              </a:rPr>
              <a:t>tras</a:t>
            </a:r>
            <a:r>
              <a:rPr sz="1300" b="0" i="0" dirty="0">
                <a:solidFill>
                  <a:srgbClr val="64748B"/>
                </a:solidFill>
                <a:latin typeface="Arial"/>
              </a:rPr>
              <a:t> la </a:t>
            </a:r>
            <a:r>
              <a:rPr sz="1300" b="0" i="0" dirty="0" err="1">
                <a:solidFill>
                  <a:srgbClr val="64748B"/>
                </a:solidFill>
                <a:latin typeface="Arial"/>
              </a:rPr>
              <a:t>caída</a:t>
            </a:r>
            <a:r>
              <a:rPr sz="1300" b="0" i="0" dirty="0">
                <a:solidFill>
                  <a:srgbClr val="64748B"/>
                </a:solidFill>
                <a:latin typeface="Arial"/>
              </a:rPr>
              <a:t> del </a:t>
            </a:r>
            <a:r>
              <a:rPr sz="1300" b="0" i="0" dirty="0" err="1">
                <a:solidFill>
                  <a:srgbClr val="64748B"/>
                </a:solidFill>
                <a:latin typeface="Arial"/>
              </a:rPr>
              <a:t>servicio</a:t>
            </a:r>
            <a:r>
              <a:rPr sz="1300" b="0" i="0" dirty="0">
                <a:solidFill>
                  <a:srgbClr val="64748B"/>
                </a:solidFill>
                <a:latin typeface="Arial"/>
              </a:rPr>
              <a:t>, </a:t>
            </a:r>
            <a:r>
              <a:rPr sz="1300" b="0" i="0" dirty="0" err="1">
                <a:solidFill>
                  <a:srgbClr val="64748B"/>
                </a:solidFill>
                <a:latin typeface="Arial"/>
              </a:rPr>
              <a:t>apagando</a:t>
            </a:r>
            <a:r>
              <a:rPr sz="1300" b="0" i="0" dirty="0">
                <a:solidFill>
                  <a:srgbClr val="64748B"/>
                </a:solidFill>
                <a:latin typeface="Arial"/>
              </a:rPr>
              <a:t> </a:t>
            </a:r>
            <a:r>
              <a:rPr sz="1300" b="0" i="0" dirty="0" err="1">
                <a:solidFill>
                  <a:srgbClr val="64748B"/>
                </a:solidFill>
                <a:latin typeface="Arial"/>
              </a:rPr>
              <a:t>incendios</a:t>
            </a:r>
            <a:r>
              <a:rPr sz="1300" b="0" i="0" dirty="0">
                <a:solidFill>
                  <a:srgbClr val="64748B"/>
                </a:solidFill>
                <a:latin typeface="Arial"/>
              </a:rPr>
              <a:t> con </a:t>
            </a:r>
            <a:r>
              <a:rPr sz="1300" b="0" i="0" dirty="0" err="1">
                <a:solidFill>
                  <a:srgbClr val="64748B"/>
                </a:solidFill>
                <a:latin typeface="Arial"/>
              </a:rPr>
              <a:t>escasa</a:t>
            </a:r>
            <a:r>
              <a:rPr sz="1300" b="0" i="0" dirty="0">
                <a:solidFill>
                  <a:srgbClr val="64748B"/>
                </a:solidFill>
                <a:latin typeface="Arial"/>
              </a:rPr>
              <a:t> </a:t>
            </a:r>
            <a:r>
              <a:rPr sz="1300" b="0" i="0" dirty="0" err="1">
                <a:solidFill>
                  <a:srgbClr val="64748B"/>
                </a:solidFill>
                <a:latin typeface="Arial"/>
              </a:rPr>
              <a:t>claridad</a:t>
            </a:r>
            <a:r>
              <a:rPr sz="1300" b="0" i="0" dirty="0">
                <a:solidFill>
                  <a:srgbClr val="64748B"/>
                </a:solidFill>
                <a:latin typeface="Arial"/>
              </a:rPr>
              <a:t> </a:t>
            </a:r>
            <a:r>
              <a:rPr sz="1300" b="0" i="0" dirty="0" err="1">
                <a:solidFill>
                  <a:srgbClr val="64748B"/>
                </a:solidFill>
                <a:latin typeface="Arial"/>
              </a:rPr>
              <a:t>diagnóstica</a:t>
            </a:r>
            <a:r>
              <a:rPr sz="1300" b="0" i="0" dirty="0">
                <a:solidFill>
                  <a:srgbClr val="64748B"/>
                </a:solidFill>
                <a:latin typeface="Arial"/>
              </a:rPr>
              <a:t>.
</a:t>
            </a:r>
            <a:r>
              <a:rPr sz="1350" b="1" i="0" dirty="0">
                <a:solidFill>
                  <a:srgbClr val="1E293B"/>
                </a:solidFill>
                <a:latin typeface="Arial"/>
              </a:rPr>
              <a:t>• A un </a:t>
            </a:r>
            <a:r>
              <a:rPr sz="1350" b="1" i="0" dirty="0" err="1">
                <a:solidFill>
                  <a:srgbClr val="1E293B"/>
                </a:solidFill>
                <a:latin typeface="Arial"/>
              </a:rPr>
              <a:t>modelo</a:t>
            </a:r>
            <a:r>
              <a:rPr sz="1350" b="1" i="0" dirty="0">
                <a:solidFill>
                  <a:srgbClr val="1E293B"/>
                </a:solidFill>
                <a:latin typeface="Arial"/>
              </a:rPr>
              <a:t> </a:t>
            </a:r>
            <a:r>
              <a:rPr sz="1350" b="1" i="0" dirty="0" err="1">
                <a:solidFill>
                  <a:srgbClr val="1E293B"/>
                </a:solidFill>
                <a:latin typeface="Arial"/>
              </a:rPr>
              <a:t>Prescriptivo</a:t>
            </a:r>
            <a:r>
              <a:rPr sz="1350" b="1" i="0" dirty="0">
                <a:solidFill>
                  <a:srgbClr val="1E293B"/>
                </a:solidFill>
                <a:latin typeface="Arial"/>
              </a:rPr>
              <a:t>: </a:t>
            </a:r>
            <a:r>
              <a:rPr sz="1300" b="0" i="0" dirty="0" err="1">
                <a:solidFill>
                  <a:srgbClr val="64748B"/>
                </a:solidFill>
                <a:latin typeface="Arial"/>
              </a:rPr>
              <a:t>donde</a:t>
            </a:r>
            <a:r>
              <a:rPr sz="1300" b="0" i="0" dirty="0">
                <a:solidFill>
                  <a:srgbClr val="64748B"/>
                </a:solidFill>
                <a:latin typeface="Arial"/>
              </a:rPr>
              <a:t> </a:t>
            </a:r>
            <a:r>
              <a:rPr sz="1300" b="0" i="0" dirty="0" err="1">
                <a:solidFill>
                  <a:srgbClr val="64748B"/>
                </a:solidFill>
                <a:latin typeface="Arial"/>
              </a:rPr>
              <a:t>los</a:t>
            </a:r>
            <a:r>
              <a:rPr sz="1300" b="0" i="0" dirty="0">
                <a:solidFill>
                  <a:srgbClr val="64748B"/>
                </a:solidFill>
                <a:latin typeface="Arial"/>
              </a:rPr>
              <a:t> </a:t>
            </a:r>
            <a:r>
              <a:rPr sz="1300" b="0" i="0" dirty="0" err="1">
                <a:solidFill>
                  <a:srgbClr val="64748B"/>
                </a:solidFill>
                <a:latin typeface="Arial"/>
              </a:rPr>
              <a:t>profesionales</a:t>
            </a:r>
            <a:r>
              <a:rPr sz="1300" b="0" i="0" dirty="0">
                <a:solidFill>
                  <a:srgbClr val="64748B"/>
                </a:solidFill>
                <a:latin typeface="Arial"/>
              </a:rPr>
              <a:t> </a:t>
            </a:r>
            <a:r>
              <a:rPr sz="1300" b="0" i="0" dirty="0" err="1">
                <a:solidFill>
                  <a:srgbClr val="64748B"/>
                </a:solidFill>
                <a:latin typeface="Arial"/>
              </a:rPr>
              <a:t>actúan</a:t>
            </a:r>
            <a:r>
              <a:rPr sz="1300" b="0" i="0" dirty="0">
                <a:solidFill>
                  <a:srgbClr val="64748B"/>
                </a:solidFill>
                <a:latin typeface="Arial"/>
              </a:rPr>
              <a:t> </a:t>
            </a:r>
            <a:r>
              <a:rPr sz="1300" b="0" i="0" dirty="0" err="1">
                <a:solidFill>
                  <a:srgbClr val="64748B"/>
                </a:solidFill>
                <a:latin typeface="Arial"/>
              </a:rPr>
              <a:t>preventivamente</a:t>
            </a:r>
            <a:r>
              <a:rPr sz="1300" b="0" i="0" dirty="0">
                <a:solidFill>
                  <a:srgbClr val="64748B"/>
                </a:solidFill>
                <a:latin typeface="Arial"/>
              </a:rPr>
              <a:t> con </a:t>
            </a:r>
            <a:r>
              <a:rPr sz="1300" b="0" i="0" dirty="0" err="1">
                <a:solidFill>
                  <a:srgbClr val="64748B"/>
                </a:solidFill>
                <a:latin typeface="Arial"/>
              </a:rPr>
              <a:t>serenidad</a:t>
            </a:r>
            <a:r>
              <a:rPr sz="1300" b="0" i="0" dirty="0">
                <a:solidFill>
                  <a:srgbClr val="64748B"/>
                </a:solidFill>
                <a:latin typeface="Arial"/>
              </a:rPr>
              <a:t>, </a:t>
            </a:r>
            <a:r>
              <a:rPr sz="1300" b="0" i="0" dirty="0" err="1">
                <a:solidFill>
                  <a:srgbClr val="64748B"/>
                </a:solidFill>
                <a:latin typeface="Arial"/>
              </a:rPr>
              <a:t>respaldados</a:t>
            </a:r>
            <a:r>
              <a:rPr sz="1300" b="0" i="0" dirty="0">
                <a:solidFill>
                  <a:srgbClr val="64748B"/>
                </a:solidFill>
                <a:latin typeface="Arial"/>
              </a:rPr>
              <a:t> </a:t>
            </a:r>
            <a:r>
              <a:rPr sz="1300" b="0" i="0" dirty="0" err="1">
                <a:solidFill>
                  <a:srgbClr val="64748B"/>
                </a:solidFill>
                <a:latin typeface="Arial"/>
              </a:rPr>
              <a:t>por</a:t>
            </a:r>
            <a:r>
              <a:rPr sz="1300" b="0" i="0" dirty="0">
                <a:solidFill>
                  <a:srgbClr val="64748B"/>
                </a:solidFill>
                <a:latin typeface="Arial"/>
              </a:rPr>
              <a:t> un motor de IA </a:t>
            </a:r>
            <a:r>
              <a:rPr sz="1300" b="0" i="0" dirty="0" err="1">
                <a:solidFill>
                  <a:srgbClr val="64748B"/>
                </a:solidFill>
                <a:latin typeface="Arial"/>
              </a:rPr>
              <a:t>que</a:t>
            </a:r>
            <a:r>
              <a:rPr sz="1300" b="0" i="0" dirty="0">
                <a:solidFill>
                  <a:srgbClr val="64748B"/>
                </a:solidFill>
                <a:latin typeface="Arial"/>
              </a:rPr>
              <a:t> </a:t>
            </a:r>
            <a:r>
              <a:rPr sz="1300" b="0" i="0" dirty="0" err="1">
                <a:solidFill>
                  <a:srgbClr val="64748B"/>
                </a:solidFill>
                <a:latin typeface="Arial"/>
              </a:rPr>
              <a:t>predice</a:t>
            </a:r>
            <a:r>
              <a:rPr sz="1300" b="0" i="0" dirty="0">
                <a:solidFill>
                  <a:srgbClr val="64748B"/>
                </a:solidFill>
                <a:latin typeface="Arial"/>
              </a:rPr>
              <a:t> </a:t>
            </a:r>
            <a:r>
              <a:rPr sz="1300" b="0" i="0" dirty="0" err="1">
                <a:solidFill>
                  <a:srgbClr val="64748B"/>
                </a:solidFill>
                <a:latin typeface="Arial"/>
              </a:rPr>
              <a:t>los</a:t>
            </a:r>
            <a:r>
              <a:rPr sz="1300" b="0" i="0" dirty="0">
                <a:solidFill>
                  <a:srgbClr val="64748B"/>
                </a:solidFill>
                <a:latin typeface="Arial"/>
              </a:rPr>
              <a:t> </a:t>
            </a:r>
            <a:r>
              <a:rPr sz="1300" b="0" i="0" dirty="0" err="1">
                <a:solidFill>
                  <a:srgbClr val="64748B"/>
                </a:solidFill>
                <a:latin typeface="Arial"/>
              </a:rPr>
              <a:t>incidentes</a:t>
            </a:r>
            <a:r>
              <a:rPr sz="1300" b="0" i="0" dirty="0">
                <a:solidFill>
                  <a:srgbClr val="64748B"/>
                </a:solidFill>
                <a:latin typeface="Arial"/>
              </a:rPr>
              <a:t> y </a:t>
            </a:r>
            <a:r>
              <a:rPr sz="1300" b="0" i="0" dirty="0" err="1">
                <a:solidFill>
                  <a:srgbClr val="64748B"/>
                </a:solidFill>
                <a:latin typeface="Arial"/>
              </a:rPr>
              <a:t>sugiere</a:t>
            </a:r>
            <a:r>
              <a:rPr sz="1300" b="0" i="0" dirty="0">
                <a:solidFill>
                  <a:srgbClr val="64748B"/>
                </a:solidFill>
                <a:latin typeface="Arial"/>
              </a:rPr>
              <a:t> la </a:t>
            </a:r>
            <a:r>
              <a:rPr sz="1300" b="0" i="0" dirty="0" err="1">
                <a:solidFill>
                  <a:srgbClr val="64748B"/>
                </a:solidFill>
                <a:latin typeface="Arial"/>
              </a:rPr>
              <a:t>solución</a:t>
            </a:r>
            <a:r>
              <a:rPr sz="1300" b="0" i="0" dirty="0">
                <a:solidFill>
                  <a:srgbClr val="64748B"/>
                </a:solidFill>
                <a:latin typeface="Arial"/>
              </a:rPr>
              <a:t> exacta antes de la </a:t>
            </a:r>
            <a:r>
              <a:rPr sz="1300" b="0" i="0" dirty="0" err="1">
                <a:solidFill>
                  <a:srgbClr val="64748B"/>
                </a:solidFill>
                <a:latin typeface="Arial"/>
              </a:rPr>
              <a:t>degradación</a:t>
            </a:r>
            <a:r>
              <a:rPr sz="1300" b="0" i="0" dirty="0">
                <a:solidFill>
                  <a:srgbClr val="64748B"/>
                </a:solidFill>
                <a:latin typeface="Arial"/>
              </a:rPr>
              <a:t> </a:t>
            </a:r>
            <a:r>
              <a:rPr sz="1300" b="0" i="0" dirty="0" err="1">
                <a:solidFill>
                  <a:srgbClr val="64748B"/>
                </a:solidFill>
                <a:latin typeface="Arial"/>
              </a:rPr>
              <a:t>catastrófica</a:t>
            </a:r>
            <a:r>
              <a:rPr sz="1300" b="0" i="0" dirty="0">
                <a:solidFill>
                  <a:srgbClr val="64748B"/>
                </a:solidFill>
                <a:latin typeface="Arial"/>
              </a:rPr>
              <a:t>.</a:t>
            </a:r>
          </a:p>
        </p:txBody>
      </p:sp>
      <p:sp>
        <p:nvSpPr>
          <p:cNvPr id="6" name="Rounded Rectangle 5"/>
          <p:cNvSpPr/>
          <p:nvPr/>
        </p:nvSpPr>
        <p:spPr>
          <a:xfrm>
            <a:off x="4937760" y="1645920"/>
            <a:ext cx="6675120" cy="777240"/>
          </a:xfrm>
          <a:prstGeom prst="roundRect">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r>
              <a:rPr sz="1250" b="1" i="0">
                <a:solidFill>
                  <a:srgbClr val="0284C7"/>
                </a:solidFill>
                <a:latin typeface="Georgia"/>
              </a:rPr>
              <a:t>1. ¿Para qué?: </a:t>
            </a:r>
            <a:r>
              <a:rPr sz="1150" b="0" i="0">
                <a:solidFill>
                  <a:srgbClr val="1E293B"/>
                </a:solidFill>
                <a:latin typeface="Arial"/>
              </a:rPr>
              <a:t>Para evitar que el pool de conexiones de PostgreSQL se sature progresivamente bajo carga.</a:t>
            </a:r>
          </a:p>
        </p:txBody>
      </p:sp>
      <p:sp>
        <p:nvSpPr>
          <p:cNvPr id="7" name="Rounded Rectangle 6"/>
          <p:cNvSpPr/>
          <p:nvPr/>
        </p:nvSpPr>
        <p:spPr>
          <a:xfrm>
            <a:off x="4937760" y="2578608"/>
            <a:ext cx="6675120" cy="777240"/>
          </a:xfrm>
          <a:prstGeom prst="roundRect">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r>
              <a:rPr sz="1250" b="1" i="0">
                <a:solidFill>
                  <a:srgbClr val="0284C7"/>
                </a:solidFill>
                <a:latin typeface="Georgia"/>
              </a:rPr>
              <a:t>2. ¿Para qué?: </a:t>
            </a:r>
            <a:r>
              <a:rPr sz="1150" b="0" i="0">
                <a:solidFill>
                  <a:srgbClr val="1E293B"/>
                </a:solidFill>
                <a:latin typeface="Arial"/>
              </a:rPr>
              <a:t>Para prevenir caídas severas de servicios y degradaciones de respuesta al cliente.</a:t>
            </a:r>
          </a:p>
        </p:txBody>
      </p:sp>
      <p:sp>
        <p:nvSpPr>
          <p:cNvPr id="8" name="Rounded Rectangle 7"/>
          <p:cNvSpPr/>
          <p:nvPr/>
        </p:nvSpPr>
        <p:spPr>
          <a:xfrm>
            <a:off x="4937760" y="3511296"/>
            <a:ext cx="6675120" cy="777240"/>
          </a:xfrm>
          <a:prstGeom prst="roundRect">
            <a:avLst/>
          </a:prstGeom>
          <a:solidFill>
            <a:srgbClr val="FFEDD5"/>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r>
              <a:rPr sz="1250" b="1" i="0">
                <a:solidFill>
                  <a:srgbClr val="EA580C"/>
                </a:solidFill>
                <a:latin typeface="Georgia"/>
              </a:rPr>
              <a:t>3. ¿Para qué?: </a:t>
            </a:r>
            <a:r>
              <a:rPr sz="1150" b="0" i="0">
                <a:solidFill>
                  <a:srgbClr val="1E293B"/>
                </a:solidFill>
                <a:latin typeface="Arial"/>
              </a:rPr>
              <a:t>Para minimizar las pérdidas directas de dinero por caídas de transacciones y soporte reactivo.</a:t>
            </a:r>
          </a:p>
        </p:txBody>
      </p:sp>
      <p:sp>
        <p:nvSpPr>
          <p:cNvPr id="9" name="Rounded Rectangle 8"/>
          <p:cNvSpPr/>
          <p:nvPr/>
        </p:nvSpPr>
        <p:spPr>
          <a:xfrm>
            <a:off x="4937761" y="4443984"/>
            <a:ext cx="6675120" cy="777240"/>
          </a:xfrm>
          <a:prstGeom prst="roundRect">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r>
              <a:rPr sz="1250" b="1" i="0">
                <a:solidFill>
                  <a:srgbClr val="0284C7"/>
                </a:solidFill>
                <a:latin typeface="Georgia"/>
              </a:rPr>
              <a:t>4. ¿Para qué?: </a:t>
            </a:r>
            <a:r>
              <a:rPr sz="1150" b="0" i="0">
                <a:solidFill>
                  <a:srgbClr val="1E293B"/>
                </a:solidFill>
                <a:latin typeface="Arial"/>
              </a:rPr>
              <a:t>Para disminuir drásticamente el tiempo empleado en diagnóstico manual y estrés de TI.</a:t>
            </a:r>
          </a:p>
        </p:txBody>
      </p:sp>
      <p:sp>
        <p:nvSpPr>
          <p:cNvPr id="10" name="Rounded Rectangle 9"/>
          <p:cNvSpPr/>
          <p:nvPr/>
        </p:nvSpPr>
        <p:spPr>
          <a:xfrm>
            <a:off x="4937761" y="5376672"/>
            <a:ext cx="6675119" cy="777240"/>
          </a:xfrm>
          <a:prstGeom prst="roundRect">
            <a:avLst/>
          </a:prstGeom>
          <a:solidFill>
            <a:srgbClr val="EBF8F1"/>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r>
              <a:rPr sz="1250" b="1" i="0">
                <a:solidFill>
                  <a:srgbClr val="16A34A"/>
                </a:solidFill>
                <a:latin typeface="Georgia"/>
              </a:rPr>
              <a:t>5. ¿Para qué?: </a:t>
            </a:r>
            <a:r>
              <a:rPr sz="1150" b="0" i="0">
                <a:solidFill>
                  <a:srgbClr val="1E293B"/>
                </a:solidFill>
                <a:latin typeface="Arial"/>
              </a:rPr>
              <a:t>Para resguardar la reputación operacional de la empresa y la experiencia del cliente final.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t>Métricas de Validación Cuantificadas por Variables</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5303520" cy="2194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r>
              <a:rPr sz="1400" b="1" i="0">
                <a:solidFill>
                  <a:srgbClr val="0284C7"/>
                </a:solidFill>
                <a:latin typeface="Georgia"/>
              </a:rPr>
              <a:t>Tiempo de Anticipación Proactiva</a:t>
            </a:r>
          </a:p>
          <a:p>
            <a:pPr>
              <a:spcBef>
                <a:spcPts val="600"/>
              </a:spcBef>
            </a:pPr>
            <a:r>
              <a:rPr sz="1800" b="1" i="0">
                <a:solidFill>
                  <a:srgbClr val="0284C7"/>
                </a:solidFill>
                <a:latin typeface="Arial"/>
              </a:rPr>
              <a:t>&gt;= 15 Minutos</a:t>
            </a:r>
          </a:p>
          <a:p>
            <a:pPr>
              <a:lnSpc>
                <a:spcPct val="115000"/>
              </a:lnSpc>
              <a:spcBef>
                <a:spcPts val="800"/>
              </a:spcBef>
            </a:pPr>
            <a:r>
              <a:rPr sz="1150" b="0" i="0">
                <a:solidFill>
                  <a:srgbClr val="1E293B"/>
                </a:solidFill>
                <a:latin typeface="Arial"/>
              </a:rPr>
              <a:t>Capacidad de detectar la saturación en PostgreSQL antes de que alcance el límite operativo, dando holgura suficiente para reaccionar.</a:t>
            </a:r>
          </a:p>
        </p:txBody>
      </p:sp>
      <p:sp>
        <p:nvSpPr>
          <p:cNvPr id="6" name="Rounded Rectangle 5"/>
          <p:cNvSpPr/>
          <p:nvPr/>
        </p:nvSpPr>
        <p:spPr>
          <a:xfrm>
            <a:off x="6309360" y="1645920"/>
            <a:ext cx="5303520" cy="2194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r>
              <a:rPr sz="1400" b="1" i="0">
                <a:solidFill>
                  <a:srgbClr val="EA580C"/>
                </a:solidFill>
                <a:latin typeface="Georgia"/>
              </a:rPr>
              <a:t>Precisión y Tasa de Falsos Alertas</a:t>
            </a:r>
          </a:p>
          <a:p>
            <a:pPr>
              <a:spcBef>
                <a:spcPts val="600"/>
              </a:spcBef>
            </a:pPr>
            <a:r>
              <a:rPr sz="1800" b="1" i="0">
                <a:solidFill>
                  <a:srgbClr val="EA580C"/>
                </a:solidFill>
                <a:latin typeface="Arial"/>
              </a:rPr>
              <a:t>&gt;85% Precisión  |  &lt;5% Falsos Pos.</a:t>
            </a:r>
          </a:p>
          <a:p>
            <a:pPr>
              <a:lnSpc>
                <a:spcPct val="115000"/>
              </a:lnSpc>
              <a:spcBef>
                <a:spcPts val="800"/>
              </a:spcBef>
            </a:pPr>
            <a:r>
              <a:rPr sz="1150" b="0" i="0">
                <a:solidFill>
                  <a:srgbClr val="1E293B"/>
                </a:solidFill>
                <a:latin typeface="Arial"/>
              </a:rPr>
              <a:t>Evaluación del modelo Isolation Forest durante 4 semanas continuas de validación, asegurando la mitigación efectiva de fatiga técnica.</a:t>
            </a:r>
          </a:p>
        </p:txBody>
      </p:sp>
      <p:sp>
        <p:nvSpPr>
          <p:cNvPr id="7" name="Rounded Rectangle 6"/>
          <p:cNvSpPr/>
          <p:nvPr/>
        </p:nvSpPr>
        <p:spPr>
          <a:xfrm>
            <a:off x="548640" y="4114800"/>
            <a:ext cx="5303520" cy="2194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r>
              <a:rPr sz="1400" b="1" i="0">
                <a:solidFill>
                  <a:srgbClr val="16A34A"/>
                </a:solidFill>
                <a:latin typeface="Georgia"/>
              </a:rPr>
              <a:t>Tiempo de Resolución Operacional (MTTR)</a:t>
            </a:r>
          </a:p>
          <a:p>
            <a:pPr>
              <a:spcBef>
                <a:spcPts val="600"/>
              </a:spcBef>
            </a:pPr>
            <a:r>
              <a:rPr sz="1800" b="1" i="0">
                <a:solidFill>
                  <a:srgbClr val="16A34A"/>
                </a:solidFill>
                <a:latin typeface="Arial"/>
              </a:rPr>
              <a:t>&lt; 10 Minutos (antes 45 Min)</a:t>
            </a:r>
          </a:p>
          <a:p>
            <a:pPr>
              <a:lnSpc>
                <a:spcPct val="115000"/>
              </a:lnSpc>
              <a:spcBef>
                <a:spcPts val="800"/>
              </a:spcBef>
            </a:pPr>
            <a:r>
              <a:rPr sz="1150" b="0" i="0">
                <a:solidFill>
                  <a:srgbClr val="1E293B"/>
                </a:solidFill>
                <a:latin typeface="Arial"/>
              </a:rPr>
              <a:t>Reducción dramática del MTTR de caídas gracias a la unificación inmediata de diagnóstico y la recomendación prescriptiva sugerida.</a:t>
            </a:r>
          </a:p>
        </p:txBody>
      </p:sp>
      <p:sp>
        <p:nvSpPr>
          <p:cNvPr id="8" name="Rounded Rectangle 7"/>
          <p:cNvSpPr/>
          <p:nvPr/>
        </p:nvSpPr>
        <p:spPr>
          <a:xfrm>
            <a:off x="6309360" y="4114800"/>
            <a:ext cx="5303520" cy="21945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r>
              <a:rPr sz="1400" b="1" i="0">
                <a:solidFill>
                  <a:srgbClr val="64748B"/>
                </a:solidFill>
                <a:latin typeface="Georgia"/>
              </a:rPr>
              <a:t>Carga Operativa Reacción TI</a:t>
            </a:r>
          </a:p>
          <a:p>
            <a:pPr>
              <a:spcBef>
                <a:spcPts val="600"/>
              </a:spcBef>
            </a:pPr>
            <a:r>
              <a:rPr sz="1800" b="1" i="0">
                <a:solidFill>
                  <a:srgbClr val="64748B"/>
                </a:solidFill>
                <a:latin typeface="Arial"/>
              </a:rPr>
              <a:t>60% Reducción Diagnóstico</a:t>
            </a:r>
          </a:p>
          <a:p>
            <a:pPr>
              <a:lnSpc>
                <a:spcPct val="115000"/>
              </a:lnSpc>
              <a:spcBef>
                <a:spcPts val="800"/>
              </a:spcBef>
            </a:pPr>
            <a:r>
              <a:rPr sz="1150" b="0" i="0">
                <a:solidFill>
                  <a:srgbClr val="1E293B"/>
                </a:solidFill>
                <a:latin typeface="Arial"/>
              </a:rPr>
              <a:t>Reducción estimada del esfuerzo manual del equipo TI en labores repetitivas de triage e investigación a lo largo del periodo del proyecto (19 sem).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rPr dirty="0"/>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rPr dirty="0" err="1"/>
              <a:t>Alcance</a:t>
            </a:r>
            <a:r>
              <a:rPr dirty="0"/>
              <a:t> Técnico: </a:t>
            </a:r>
            <a:r>
              <a:rPr dirty="0" err="1"/>
              <a:t>Límites</a:t>
            </a:r>
            <a:r>
              <a:rPr dirty="0"/>
              <a:t> </a:t>
            </a:r>
            <a:r>
              <a:rPr dirty="0" err="1"/>
              <a:t>Rigurosos</a:t>
            </a:r>
            <a:r>
              <a:rPr dirty="0"/>
              <a:t> del MVP</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5303520" cy="466344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r>
              <a:rPr sz="1800" b="1" i="0" dirty="0">
                <a:solidFill>
                  <a:srgbClr val="16A34A"/>
                </a:solidFill>
                <a:latin typeface="Georgia"/>
              </a:rPr>
              <a:t>LO QUE ES (MVP Fase 1)</a:t>
            </a:r>
          </a:p>
          <a:p>
            <a:pPr>
              <a:lnSpc>
                <a:spcPct val="115000"/>
              </a:lnSpc>
              <a:spcBef>
                <a:spcPts val="1000"/>
              </a:spcBef>
            </a:pPr>
            <a:r>
              <a:rPr sz="1250" b="1" i="0" dirty="0" err="1">
                <a:solidFill>
                  <a:srgbClr val="1E293B"/>
                </a:solidFill>
                <a:latin typeface="Arial"/>
              </a:rPr>
              <a:t>Escenario</a:t>
            </a:r>
            <a:r>
              <a:rPr sz="1250" b="1" i="0" dirty="0">
                <a:solidFill>
                  <a:srgbClr val="1E293B"/>
                </a:solidFill>
                <a:latin typeface="Arial"/>
              </a:rPr>
              <a:t> </a:t>
            </a:r>
            <a:r>
              <a:rPr sz="1250" b="1" i="0" dirty="0" err="1">
                <a:solidFill>
                  <a:srgbClr val="1E293B"/>
                </a:solidFill>
                <a:latin typeface="Arial"/>
              </a:rPr>
              <a:t>Controlado</a:t>
            </a:r>
            <a:r>
              <a:rPr sz="1250" b="0" i="0" dirty="0">
                <a:solidFill>
                  <a:srgbClr val="1E293B"/>
                </a:solidFill>
                <a:latin typeface="Arial"/>
              </a:rPr>
              <a:t>: Foco </a:t>
            </a:r>
            <a:r>
              <a:rPr sz="1250" b="0" i="0" dirty="0" err="1">
                <a:solidFill>
                  <a:srgbClr val="1E293B"/>
                </a:solidFill>
                <a:latin typeface="Arial"/>
              </a:rPr>
              <a:t>estricto</a:t>
            </a:r>
            <a:r>
              <a:rPr sz="1250" b="0" i="0" dirty="0">
                <a:solidFill>
                  <a:srgbClr val="1E293B"/>
                </a:solidFill>
                <a:latin typeface="Arial"/>
              </a:rPr>
              <a:t> </a:t>
            </a:r>
            <a:r>
              <a:rPr sz="1250" b="0" i="0" dirty="0" err="1">
                <a:solidFill>
                  <a:srgbClr val="1E293B"/>
                </a:solidFill>
                <a:latin typeface="Arial"/>
              </a:rPr>
              <a:t>en</a:t>
            </a:r>
            <a:r>
              <a:rPr sz="1250" b="0" i="0" dirty="0">
                <a:solidFill>
                  <a:srgbClr val="1E293B"/>
                </a:solidFill>
                <a:latin typeface="Arial"/>
              </a:rPr>
              <a:t> la </a:t>
            </a:r>
            <a:r>
              <a:rPr sz="1250" b="0" i="0" dirty="0" err="1">
                <a:solidFill>
                  <a:srgbClr val="1E293B"/>
                </a:solidFill>
                <a:latin typeface="Arial"/>
              </a:rPr>
              <a:t>saturación</a:t>
            </a:r>
            <a:r>
              <a:rPr sz="1250" b="0" i="0" dirty="0">
                <a:solidFill>
                  <a:srgbClr val="1E293B"/>
                </a:solidFill>
                <a:latin typeface="Arial"/>
              </a:rPr>
              <a:t> </a:t>
            </a:r>
            <a:r>
              <a:rPr sz="1250" b="0" i="0" dirty="0" err="1">
                <a:solidFill>
                  <a:srgbClr val="1E293B"/>
                </a:solidFill>
                <a:latin typeface="Arial"/>
              </a:rPr>
              <a:t>progresiva</a:t>
            </a:r>
            <a:r>
              <a:rPr sz="1250" b="0" i="0" dirty="0">
                <a:solidFill>
                  <a:srgbClr val="1E293B"/>
                </a:solidFill>
                <a:latin typeface="Arial"/>
              </a:rPr>
              <a:t> de </a:t>
            </a:r>
            <a:r>
              <a:rPr sz="1250" b="0" i="0" dirty="0" err="1">
                <a:solidFill>
                  <a:srgbClr val="1E293B"/>
                </a:solidFill>
                <a:latin typeface="Arial"/>
              </a:rPr>
              <a:t>conexiones</a:t>
            </a:r>
            <a:r>
              <a:rPr sz="1250" b="0" i="0" dirty="0">
                <a:solidFill>
                  <a:srgbClr val="1E293B"/>
                </a:solidFill>
                <a:latin typeface="Arial"/>
              </a:rPr>
              <a:t> de base de </a:t>
            </a:r>
            <a:r>
              <a:rPr sz="1250" b="0" i="0" dirty="0" err="1">
                <a:solidFill>
                  <a:srgbClr val="1E293B"/>
                </a:solidFill>
                <a:latin typeface="Arial"/>
              </a:rPr>
              <a:t>datos</a:t>
            </a:r>
            <a:r>
              <a:rPr sz="1250" b="0" i="0" dirty="0">
                <a:solidFill>
                  <a:srgbClr val="1E293B"/>
                </a:solidFill>
                <a:latin typeface="Arial"/>
              </a:rPr>
              <a:t> PostgreSQL, junto con </a:t>
            </a:r>
            <a:r>
              <a:rPr sz="1250" b="0" i="0" dirty="0" err="1">
                <a:solidFill>
                  <a:srgbClr val="1E293B"/>
                </a:solidFill>
                <a:latin typeface="Arial"/>
              </a:rPr>
              <a:t>aumentos</a:t>
            </a:r>
            <a:r>
              <a:rPr sz="1250" b="0" i="0" dirty="0">
                <a:solidFill>
                  <a:srgbClr val="1E293B"/>
                </a:solidFill>
                <a:latin typeface="Arial"/>
              </a:rPr>
              <a:t> </a:t>
            </a:r>
            <a:r>
              <a:rPr sz="1250" b="0" i="0" dirty="0" err="1">
                <a:solidFill>
                  <a:srgbClr val="1E293B"/>
                </a:solidFill>
                <a:latin typeface="Arial"/>
              </a:rPr>
              <a:t>en</a:t>
            </a:r>
            <a:r>
              <a:rPr sz="1250" b="0" i="0" dirty="0">
                <a:solidFill>
                  <a:srgbClr val="1E293B"/>
                </a:solidFill>
                <a:latin typeface="Arial"/>
              </a:rPr>
              <a:t> CPU, RAM y solicitudes </a:t>
            </a:r>
            <a:r>
              <a:rPr sz="1250" b="0" i="0" dirty="0" err="1">
                <a:solidFill>
                  <a:srgbClr val="1E293B"/>
                </a:solidFill>
                <a:latin typeface="Arial"/>
              </a:rPr>
              <a:t>entrantes</a:t>
            </a:r>
            <a:r>
              <a:rPr sz="1250" b="0" i="0" dirty="0">
                <a:solidFill>
                  <a:srgbClr val="1E293B"/>
                </a:solidFill>
                <a:latin typeface="Arial"/>
              </a:rPr>
              <a:t>.</a:t>
            </a:r>
          </a:p>
          <a:p>
            <a:pPr>
              <a:lnSpc>
                <a:spcPct val="115000"/>
              </a:lnSpc>
              <a:spcBef>
                <a:spcPts val="1000"/>
              </a:spcBef>
            </a:pPr>
            <a:r>
              <a:rPr sz="1250" b="1" i="0" dirty="0" err="1">
                <a:solidFill>
                  <a:srgbClr val="1E293B"/>
                </a:solidFill>
                <a:latin typeface="Arial"/>
              </a:rPr>
              <a:t>Simulador</a:t>
            </a:r>
            <a:r>
              <a:rPr sz="1250" b="1" i="0" dirty="0">
                <a:solidFill>
                  <a:srgbClr val="1E293B"/>
                </a:solidFill>
                <a:latin typeface="Arial"/>
              </a:rPr>
              <a:t> de </a:t>
            </a:r>
            <a:r>
              <a:rPr sz="1250" b="1" i="0" dirty="0" err="1">
                <a:solidFill>
                  <a:srgbClr val="1E293B"/>
                </a:solidFill>
                <a:latin typeface="Arial"/>
              </a:rPr>
              <a:t>Telemetría</a:t>
            </a:r>
            <a:r>
              <a:rPr sz="1250" b="0" i="0" dirty="0">
                <a:solidFill>
                  <a:srgbClr val="1E293B"/>
                </a:solidFill>
                <a:latin typeface="Arial"/>
              </a:rPr>
              <a:t>: Script </a:t>
            </a:r>
            <a:r>
              <a:rPr sz="1250" b="0" i="0" dirty="0" err="1">
                <a:solidFill>
                  <a:srgbClr val="1E293B"/>
                </a:solidFill>
                <a:latin typeface="Arial"/>
              </a:rPr>
              <a:t>programado</a:t>
            </a:r>
            <a:r>
              <a:rPr sz="1250" b="0" i="0" dirty="0">
                <a:solidFill>
                  <a:srgbClr val="1E293B"/>
                </a:solidFill>
                <a:latin typeface="Arial"/>
              </a:rPr>
              <a:t> </a:t>
            </a:r>
            <a:r>
              <a:rPr sz="1250" b="0" i="0" dirty="0" err="1">
                <a:solidFill>
                  <a:srgbClr val="1E293B"/>
                </a:solidFill>
                <a:latin typeface="Arial"/>
              </a:rPr>
              <a:t>en</a:t>
            </a:r>
            <a:r>
              <a:rPr sz="1250" b="0" i="0" dirty="0">
                <a:solidFill>
                  <a:srgbClr val="1E293B"/>
                </a:solidFill>
                <a:latin typeface="Arial"/>
              </a:rPr>
              <a:t> Python (</a:t>
            </a:r>
            <a:r>
              <a:rPr sz="1250" b="0" i="0" dirty="0" err="1">
                <a:solidFill>
                  <a:srgbClr val="1E293B"/>
                </a:solidFill>
                <a:latin typeface="Arial"/>
              </a:rPr>
              <a:t>referenciando</a:t>
            </a:r>
            <a:r>
              <a:rPr sz="1250" b="0" i="0" dirty="0">
                <a:solidFill>
                  <a:srgbClr val="1E293B"/>
                </a:solidFill>
                <a:latin typeface="Arial"/>
              </a:rPr>
              <a:t> </a:t>
            </a:r>
            <a:r>
              <a:rPr sz="1250" b="0" i="0" dirty="0" err="1">
                <a:solidFill>
                  <a:srgbClr val="1E293B"/>
                </a:solidFill>
                <a:latin typeface="Arial"/>
              </a:rPr>
              <a:t>psutil</a:t>
            </a:r>
            <a:r>
              <a:rPr sz="1250" b="0" i="0" dirty="0">
                <a:solidFill>
                  <a:srgbClr val="1E293B"/>
                </a:solidFill>
                <a:latin typeface="Arial"/>
              </a:rPr>
              <a:t>) para </a:t>
            </a:r>
            <a:r>
              <a:rPr sz="1250" b="0" i="0" dirty="0" err="1">
                <a:solidFill>
                  <a:srgbClr val="1E293B"/>
                </a:solidFill>
                <a:latin typeface="Arial"/>
              </a:rPr>
              <a:t>emitir</a:t>
            </a:r>
            <a:r>
              <a:rPr sz="1250" b="0" i="0" dirty="0">
                <a:solidFill>
                  <a:srgbClr val="1E293B"/>
                </a:solidFill>
                <a:latin typeface="Arial"/>
              </a:rPr>
              <a:t> </a:t>
            </a:r>
            <a:r>
              <a:rPr sz="1250" b="0" i="0" dirty="0" err="1">
                <a:solidFill>
                  <a:srgbClr val="1E293B"/>
                </a:solidFill>
                <a:latin typeface="Arial"/>
              </a:rPr>
              <a:t>métricas</a:t>
            </a:r>
            <a:r>
              <a:rPr sz="1250" b="0" i="0" dirty="0">
                <a:solidFill>
                  <a:srgbClr val="1E293B"/>
                </a:solidFill>
                <a:latin typeface="Arial"/>
              </a:rPr>
              <a:t> </a:t>
            </a:r>
            <a:r>
              <a:rPr sz="1250" b="0" i="0" dirty="0" err="1">
                <a:solidFill>
                  <a:srgbClr val="1E293B"/>
                </a:solidFill>
                <a:latin typeface="Arial"/>
              </a:rPr>
              <a:t>realistas</a:t>
            </a:r>
            <a:r>
              <a:rPr sz="1250" b="0" i="0" dirty="0">
                <a:solidFill>
                  <a:srgbClr val="1E293B"/>
                </a:solidFill>
                <a:latin typeface="Arial"/>
              </a:rPr>
              <a:t> con </a:t>
            </a:r>
            <a:r>
              <a:rPr sz="1250" b="0" i="0" dirty="0" err="1">
                <a:solidFill>
                  <a:srgbClr val="1E293B"/>
                </a:solidFill>
                <a:latin typeface="Arial"/>
              </a:rPr>
              <a:t>ruido</a:t>
            </a:r>
            <a:r>
              <a:rPr sz="1250" b="0" i="0" dirty="0">
                <a:solidFill>
                  <a:srgbClr val="1E293B"/>
                </a:solidFill>
                <a:latin typeface="Arial"/>
              </a:rPr>
              <a:t> </a:t>
            </a:r>
            <a:r>
              <a:rPr sz="1250" b="0" i="0" dirty="0" err="1">
                <a:solidFill>
                  <a:srgbClr val="1E293B"/>
                </a:solidFill>
                <a:latin typeface="Arial"/>
              </a:rPr>
              <a:t>controlado</a:t>
            </a:r>
            <a:r>
              <a:rPr sz="1250" b="0" i="0" dirty="0">
                <a:solidFill>
                  <a:srgbClr val="1E293B"/>
                </a:solidFill>
                <a:latin typeface="Arial"/>
              </a:rPr>
              <a:t> y </a:t>
            </a:r>
            <a:r>
              <a:rPr sz="1250" b="0" i="0" dirty="0" err="1">
                <a:solidFill>
                  <a:srgbClr val="1E293B"/>
                </a:solidFill>
                <a:latin typeface="Arial"/>
              </a:rPr>
              <a:t>patrones</a:t>
            </a:r>
            <a:r>
              <a:rPr sz="1250" b="0" i="0" dirty="0">
                <a:solidFill>
                  <a:srgbClr val="1E293B"/>
                </a:solidFill>
                <a:latin typeface="Arial"/>
              </a:rPr>
              <a:t> de </a:t>
            </a:r>
            <a:r>
              <a:rPr sz="1250" b="0" i="0" dirty="0" err="1">
                <a:solidFill>
                  <a:srgbClr val="1E293B"/>
                </a:solidFill>
                <a:latin typeface="Arial"/>
              </a:rPr>
              <a:t>degradación</a:t>
            </a:r>
            <a:r>
              <a:rPr sz="1250" b="0" i="0" dirty="0">
                <a:solidFill>
                  <a:srgbClr val="1E293B"/>
                </a:solidFill>
                <a:latin typeface="Arial"/>
              </a:rPr>
              <a:t>.</a:t>
            </a:r>
          </a:p>
          <a:p>
            <a:pPr>
              <a:lnSpc>
                <a:spcPct val="115000"/>
              </a:lnSpc>
              <a:spcBef>
                <a:spcPts val="1000"/>
              </a:spcBef>
            </a:pPr>
            <a:r>
              <a:rPr sz="1250" b="1" i="0" dirty="0" err="1">
                <a:solidFill>
                  <a:srgbClr val="1E293B"/>
                </a:solidFill>
                <a:latin typeface="Arial"/>
              </a:rPr>
              <a:t>Arquitectura</a:t>
            </a:r>
            <a:r>
              <a:rPr sz="1250" b="1" i="0" dirty="0">
                <a:solidFill>
                  <a:srgbClr val="1E293B"/>
                </a:solidFill>
                <a:latin typeface="Arial"/>
              </a:rPr>
              <a:t> Modular</a:t>
            </a:r>
            <a:r>
              <a:rPr sz="1250" b="0" i="0" dirty="0">
                <a:solidFill>
                  <a:srgbClr val="1E293B"/>
                </a:solidFill>
                <a:latin typeface="Arial"/>
              </a:rPr>
              <a:t>: Backend </a:t>
            </a:r>
            <a:r>
              <a:rPr sz="1250" b="0" i="0" dirty="0" err="1">
                <a:solidFill>
                  <a:srgbClr val="1E293B"/>
                </a:solidFill>
                <a:latin typeface="Arial"/>
              </a:rPr>
              <a:t>estructurado</a:t>
            </a:r>
            <a:r>
              <a:rPr sz="1250" b="0" i="0" dirty="0">
                <a:solidFill>
                  <a:srgbClr val="1E293B"/>
                </a:solidFill>
                <a:latin typeface="Arial"/>
              </a:rPr>
              <a:t> </a:t>
            </a:r>
            <a:r>
              <a:rPr sz="1250" b="0" i="0" dirty="0" err="1">
                <a:solidFill>
                  <a:srgbClr val="1E293B"/>
                </a:solidFill>
                <a:latin typeface="Arial"/>
              </a:rPr>
              <a:t>en</a:t>
            </a:r>
            <a:r>
              <a:rPr sz="1250" b="0" i="0" dirty="0">
                <a:solidFill>
                  <a:srgbClr val="1E293B"/>
                </a:solidFill>
                <a:latin typeface="Arial"/>
              </a:rPr>
              <a:t> API </a:t>
            </a:r>
            <a:r>
              <a:rPr sz="1250" b="0" i="0" dirty="0" err="1">
                <a:solidFill>
                  <a:srgbClr val="1E293B"/>
                </a:solidFill>
                <a:latin typeface="Arial"/>
              </a:rPr>
              <a:t>FastAPI</a:t>
            </a:r>
            <a:r>
              <a:rPr sz="1250" b="0" i="0" dirty="0">
                <a:solidFill>
                  <a:srgbClr val="1E293B"/>
                </a:solidFill>
                <a:latin typeface="Arial"/>
              </a:rPr>
              <a:t>, base de </a:t>
            </a:r>
            <a:r>
              <a:rPr sz="1250" b="0" i="0" dirty="0" err="1">
                <a:solidFill>
                  <a:srgbClr val="1E293B"/>
                </a:solidFill>
                <a:latin typeface="Arial"/>
              </a:rPr>
              <a:t>datos</a:t>
            </a:r>
            <a:r>
              <a:rPr sz="1250" b="0" i="0" dirty="0">
                <a:solidFill>
                  <a:srgbClr val="1E293B"/>
                </a:solidFill>
                <a:latin typeface="Arial"/>
              </a:rPr>
              <a:t> </a:t>
            </a:r>
            <a:r>
              <a:rPr sz="1250" b="0" i="0" dirty="0" err="1">
                <a:solidFill>
                  <a:srgbClr val="1E293B"/>
                </a:solidFill>
                <a:latin typeface="Arial"/>
              </a:rPr>
              <a:t>relacional</a:t>
            </a:r>
            <a:r>
              <a:rPr sz="1250" b="0" i="0" dirty="0">
                <a:solidFill>
                  <a:srgbClr val="1E293B"/>
                </a:solidFill>
                <a:latin typeface="Arial"/>
              </a:rPr>
              <a:t> PostgreSQL con </a:t>
            </a:r>
            <a:r>
              <a:rPr sz="1250" b="0" i="0" dirty="0" err="1">
                <a:solidFill>
                  <a:srgbClr val="1E293B"/>
                </a:solidFill>
                <a:latin typeface="Arial"/>
              </a:rPr>
              <a:t>TimescaleDB</a:t>
            </a:r>
            <a:r>
              <a:rPr sz="1250" b="0" i="0" dirty="0">
                <a:solidFill>
                  <a:srgbClr val="1E293B"/>
                </a:solidFill>
                <a:latin typeface="Arial"/>
              </a:rPr>
              <a:t>, </a:t>
            </a:r>
            <a:r>
              <a:rPr sz="1250" b="0" i="0" dirty="0" err="1">
                <a:solidFill>
                  <a:srgbClr val="1E293B"/>
                </a:solidFill>
                <a:latin typeface="Arial"/>
              </a:rPr>
              <a:t>modelo</a:t>
            </a:r>
            <a:r>
              <a:rPr sz="1250" b="0" i="0" dirty="0">
                <a:solidFill>
                  <a:srgbClr val="1E293B"/>
                </a:solidFill>
                <a:latin typeface="Arial"/>
              </a:rPr>
              <a:t> ML scikit-learn y Grafana.</a:t>
            </a:r>
          </a:p>
          <a:p>
            <a:pPr>
              <a:lnSpc>
                <a:spcPct val="115000"/>
              </a:lnSpc>
              <a:spcBef>
                <a:spcPts val="1000"/>
              </a:spcBef>
            </a:pPr>
            <a:r>
              <a:rPr sz="1250" b="1" i="0" dirty="0" err="1">
                <a:solidFill>
                  <a:srgbClr val="1E293B"/>
                </a:solidFill>
                <a:latin typeface="Arial"/>
              </a:rPr>
              <a:t>Despliegue</a:t>
            </a:r>
            <a:r>
              <a:rPr sz="1250" b="1" i="0" dirty="0">
                <a:solidFill>
                  <a:srgbClr val="1E293B"/>
                </a:solidFill>
                <a:latin typeface="Arial"/>
              </a:rPr>
              <a:t> Portable</a:t>
            </a:r>
            <a:r>
              <a:rPr sz="1250" b="0" i="0" dirty="0">
                <a:solidFill>
                  <a:srgbClr val="1E293B"/>
                </a:solidFill>
                <a:latin typeface="Arial"/>
              </a:rPr>
              <a:t>: </a:t>
            </a:r>
            <a:r>
              <a:rPr sz="1250" b="0" i="0" dirty="0" err="1">
                <a:solidFill>
                  <a:srgbClr val="1E293B"/>
                </a:solidFill>
                <a:latin typeface="Arial"/>
              </a:rPr>
              <a:t>Contenerización</a:t>
            </a:r>
            <a:r>
              <a:rPr sz="1250" b="0" i="0" dirty="0">
                <a:solidFill>
                  <a:srgbClr val="1E293B"/>
                </a:solidFill>
                <a:latin typeface="Arial"/>
              </a:rPr>
              <a:t> </a:t>
            </a:r>
            <a:r>
              <a:rPr sz="1250" b="0" i="0" dirty="0" err="1">
                <a:solidFill>
                  <a:srgbClr val="1E293B"/>
                </a:solidFill>
                <a:latin typeface="Arial"/>
              </a:rPr>
              <a:t>integrada</a:t>
            </a:r>
            <a:r>
              <a:rPr sz="1250" b="0" i="0" dirty="0">
                <a:solidFill>
                  <a:srgbClr val="1E293B"/>
                </a:solidFill>
                <a:latin typeface="Arial"/>
              </a:rPr>
              <a:t> de </a:t>
            </a:r>
            <a:r>
              <a:rPr sz="1250" b="0" i="0" dirty="0" err="1">
                <a:solidFill>
                  <a:srgbClr val="1E293B"/>
                </a:solidFill>
                <a:latin typeface="Arial"/>
              </a:rPr>
              <a:t>todos</a:t>
            </a:r>
            <a:r>
              <a:rPr sz="1250" b="0" i="0" dirty="0">
                <a:solidFill>
                  <a:srgbClr val="1E293B"/>
                </a:solidFill>
                <a:latin typeface="Arial"/>
              </a:rPr>
              <a:t> </a:t>
            </a:r>
            <a:r>
              <a:rPr sz="1250" b="0" i="0" dirty="0" err="1">
                <a:solidFill>
                  <a:srgbClr val="1E293B"/>
                </a:solidFill>
                <a:latin typeface="Arial"/>
              </a:rPr>
              <a:t>los</a:t>
            </a:r>
            <a:r>
              <a:rPr sz="1250" b="0" i="0" dirty="0">
                <a:solidFill>
                  <a:srgbClr val="1E293B"/>
                </a:solidFill>
                <a:latin typeface="Arial"/>
              </a:rPr>
              <a:t> </a:t>
            </a:r>
            <a:r>
              <a:rPr sz="1250" b="0" i="0" dirty="0" err="1">
                <a:solidFill>
                  <a:srgbClr val="1E293B"/>
                </a:solidFill>
                <a:latin typeface="Arial"/>
              </a:rPr>
              <a:t>módulos</a:t>
            </a:r>
            <a:r>
              <a:rPr sz="1250" b="0" i="0" dirty="0">
                <a:solidFill>
                  <a:srgbClr val="1E293B"/>
                </a:solidFill>
                <a:latin typeface="Arial"/>
              </a:rPr>
              <a:t> bajo un </a:t>
            </a:r>
            <a:r>
              <a:rPr sz="1250" b="0" i="0" dirty="0" err="1">
                <a:solidFill>
                  <a:srgbClr val="1E293B"/>
                </a:solidFill>
                <a:latin typeface="Arial"/>
              </a:rPr>
              <a:t>ecosistema</a:t>
            </a:r>
            <a:r>
              <a:rPr sz="1250" b="0" i="0" dirty="0">
                <a:solidFill>
                  <a:srgbClr val="1E293B"/>
                </a:solidFill>
                <a:latin typeface="Arial"/>
              </a:rPr>
              <a:t> Docker Compose reproducible </a:t>
            </a:r>
            <a:r>
              <a:rPr sz="1250" b="0" i="0" dirty="0" err="1">
                <a:solidFill>
                  <a:srgbClr val="1E293B"/>
                </a:solidFill>
                <a:latin typeface="Arial"/>
              </a:rPr>
              <a:t>en</a:t>
            </a:r>
            <a:r>
              <a:rPr sz="1250" b="0" i="0" dirty="0">
                <a:solidFill>
                  <a:srgbClr val="1E293B"/>
                </a:solidFill>
                <a:latin typeface="Arial"/>
              </a:rPr>
              <a:t> </a:t>
            </a:r>
            <a:r>
              <a:rPr sz="1250" b="0" i="0" dirty="0" err="1">
                <a:solidFill>
                  <a:srgbClr val="1E293B"/>
                </a:solidFill>
                <a:latin typeface="Arial"/>
              </a:rPr>
              <a:t>cualquier</a:t>
            </a:r>
            <a:r>
              <a:rPr sz="1250" b="0" i="0" dirty="0">
                <a:solidFill>
                  <a:srgbClr val="1E293B"/>
                </a:solidFill>
                <a:latin typeface="Arial"/>
              </a:rPr>
              <a:t> </a:t>
            </a:r>
            <a:r>
              <a:rPr sz="1250" b="0" i="0" dirty="0" err="1">
                <a:solidFill>
                  <a:srgbClr val="1E293B"/>
                </a:solidFill>
                <a:latin typeface="Arial"/>
              </a:rPr>
              <a:t>entorno</a:t>
            </a:r>
            <a:r>
              <a:rPr sz="1250" b="0" i="0" dirty="0">
                <a:solidFill>
                  <a:srgbClr val="1E293B"/>
                </a:solidFill>
                <a:latin typeface="Arial"/>
              </a:rPr>
              <a:t> </a:t>
            </a:r>
            <a:r>
              <a:rPr sz="1250" b="0" i="0" dirty="0" err="1">
                <a:solidFill>
                  <a:srgbClr val="1E293B"/>
                </a:solidFill>
                <a:latin typeface="Arial"/>
              </a:rPr>
              <a:t>académico</a:t>
            </a:r>
            <a:r>
              <a:rPr sz="1250" b="0" i="0" dirty="0">
                <a:solidFill>
                  <a:srgbClr val="1E293B"/>
                </a:solidFill>
                <a:latin typeface="Arial"/>
              </a:rPr>
              <a:t>.</a:t>
            </a:r>
          </a:p>
        </p:txBody>
      </p:sp>
      <p:sp>
        <p:nvSpPr>
          <p:cNvPr id="6" name="Rounded Rectangle 5"/>
          <p:cNvSpPr/>
          <p:nvPr/>
        </p:nvSpPr>
        <p:spPr>
          <a:xfrm>
            <a:off x="6309360" y="1645920"/>
            <a:ext cx="5303520" cy="4663440"/>
          </a:xfrm>
          <a:prstGeom prst="roundRect">
            <a:avLst/>
          </a:prstGeom>
          <a:solidFill>
            <a:srgbClr val="FFFFFF"/>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r>
              <a:rPr sz="1800" b="1" i="0">
                <a:solidFill>
                  <a:srgbClr val="EA580C"/>
                </a:solidFill>
                <a:latin typeface="Georgia"/>
              </a:rPr>
              <a:t>LO QUE NO ES (Fases Posteriores)</a:t>
            </a:r>
          </a:p>
          <a:p>
            <a:pPr>
              <a:lnSpc>
                <a:spcPct val="115000"/>
              </a:lnSpc>
              <a:spcBef>
                <a:spcPts val="800"/>
              </a:spcBef>
            </a:pPr>
            <a:r>
              <a:rPr sz="1250" b="1" i="0">
                <a:solidFill>
                  <a:srgbClr val="1E293B"/>
                </a:solidFill>
                <a:latin typeface="Arial"/>
              </a:rPr>
              <a:t>Monitoreo Real</a:t>
            </a:r>
            <a:r>
              <a:rPr sz="1250" b="0" i="0">
                <a:solidFill>
                  <a:srgbClr val="1E293B"/>
                </a:solidFill>
                <a:latin typeface="Arial"/>
              </a:rPr>
              <a:t>: Agente nativo instalado en infraestructura física real de producción (diferido a Fase 2, planificado en Rust).</a:t>
            </a:r>
          </a:p>
          <a:p>
            <a:pPr>
              <a:lnSpc>
                <a:spcPct val="115000"/>
              </a:lnSpc>
              <a:spcBef>
                <a:spcPts val="800"/>
              </a:spcBef>
            </a:pPr>
            <a:r>
              <a:rPr sz="1250" b="1" i="0">
                <a:solidFill>
                  <a:srgbClr val="1E293B"/>
                </a:solidFill>
                <a:latin typeface="Arial"/>
              </a:rPr>
              <a:t>Interfaz Nativa</a:t>
            </a:r>
            <a:r>
              <a:rPr sz="1250" b="0" i="0">
                <a:solidFill>
                  <a:srgbClr val="1E293B"/>
                </a:solidFill>
                <a:latin typeface="Arial"/>
              </a:rPr>
              <a:t>: Aplicación de escritorio nativa para el cliente construida mediante Tauri + React (diferido a Fase 2).</a:t>
            </a:r>
          </a:p>
          <a:p>
            <a:pPr>
              <a:lnSpc>
                <a:spcPct val="115000"/>
              </a:lnSpc>
              <a:spcBef>
                <a:spcPts val="800"/>
              </a:spcBef>
            </a:pPr>
            <a:r>
              <a:rPr sz="1250" b="1" i="0">
                <a:solidFill>
                  <a:srgbClr val="1E293B"/>
                </a:solidFill>
                <a:latin typeface="Arial"/>
              </a:rPr>
              <a:t>Multicrisis Simultánea</a:t>
            </a:r>
            <a:r>
              <a:rPr sz="1250" b="0" i="0">
                <a:solidFill>
                  <a:srgbClr val="1E293B"/>
                </a:solidFill>
                <a:latin typeface="Arial"/>
              </a:rPr>
              <a:t>: Manejo o entrenamiento de múltiples modelos para mitigar múltiples escenarios de incidentes simultáneamente.</a:t>
            </a:r>
          </a:p>
          <a:p>
            <a:pPr>
              <a:lnSpc>
                <a:spcPct val="115000"/>
              </a:lnSpc>
              <a:spcBef>
                <a:spcPts val="800"/>
              </a:spcBef>
            </a:pPr>
            <a:r>
              <a:rPr sz="1250" b="1" i="0">
                <a:solidFill>
                  <a:srgbClr val="1E293B"/>
                </a:solidFill>
                <a:latin typeface="Arial"/>
              </a:rPr>
              <a:t>Acciones Intrusivas</a:t>
            </a:r>
            <a:r>
              <a:rPr sz="1250" b="0" i="0">
                <a:solidFill>
                  <a:srgbClr val="1E293B"/>
                </a:solidFill>
                <a:latin typeface="Arial"/>
              </a:rPr>
              <a:t>: Ejecución en vivo de comandos destructivos o invasivos de corrección directamente en sistemas productivos reales.</a:t>
            </a:r>
          </a:p>
          <a:p>
            <a:pPr>
              <a:lnSpc>
                <a:spcPct val="115000"/>
              </a:lnSpc>
              <a:spcBef>
                <a:spcPts val="800"/>
              </a:spcBef>
            </a:pPr>
            <a:r>
              <a:rPr sz="1250" b="1" i="0">
                <a:solidFill>
                  <a:srgbClr val="1E293B"/>
                </a:solidFill>
                <a:latin typeface="Arial"/>
              </a:rPr>
              <a:t>Seguridad &amp; Nube</a:t>
            </a:r>
            <a:r>
              <a:rPr sz="1250" b="0" i="0">
                <a:solidFill>
                  <a:srgbClr val="1E293B"/>
                </a:solidFill>
                <a:latin typeface="Arial"/>
              </a:rPr>
              <a:t>: Autenticación avanzada avanzada (JWT) y despliegue multi-cloud escalado en AWS / GCP (diferido a Fase 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5A61B4-813E-FD88-1FBB-0698ED10D1DE}"/>
              </a:ext>
            </a:extLst>
          </p:cNvPr>
          <p:cNvSpPr txBox="1"/>
          <p:nvPr/>
        </p:nvSpPr>
        <p:spPr>
          <a:xfrm>
            <a:off x="548640" y="194310"/>
            <a:ext cx="11091672" cy="384721"/>
          </a:xfrm>
          <a:prstGeom prst="rect">
            <a:avLst/>
          </a:prstGeom>
          <a:noFill/>
        </p:spPr>
        <p:txBody>
          <a:bodyPr wrap="square" lIns="0" tIns="0" rIns="0" bIns="0">
            <a:spAutoFit/>
          </a:bodyPr>
          <a:lstStyle/>
          <a:p>
            <a:pPr>
              <a:defRPr sz="2500" b="1">
                <a:solidFill>
                  <a:srgbClr val="1E293B"/>
                </a:solidFill>
                <a:latin typeface="Georgia"/>
              </a:defRPr>
            </a:pPr>
            <a:r>
              <a:rPr lang="es-CL" sz="2500" b="1" dirty="0" err="1">
                <a:solidFill>
                  <a:srgbClr val="1E293B"/>
                </a:solidFill>
                <a:latin typeface="Georgia"/>
              </a:rPr>
              <a:t>Opportunity</a:t>
            </a:r>
            <a:r>
              <a:rPr lang="es-CL" sz="2500" b="1" dirty="0">
                <a:solidFill>
                  <a:srgbClr val="1E293B"/>
                </a:solidFill>
                <a:latin typeface="Georgia"/>
              </a:rPr>
              <a:t> </a:t>
            </a:r>
            <a:r>
              <a:rPr lang="es-CL" sz="2500" b="1" dirty="0" err="1">
                <a:solidFill>
                  <a:srgbClr val="1E293B"/>
                </a:solidFill>
                <a:latin typeface="Georgia"/>
              </a:rPr>
              <a:t>Canvas</a:t>
            </a:r>
            <a:r>
              <a:rPr lang="es-CL" sz="2500" b="1" dirty="0">
                <a:solidFill>
                  <a:srgbClr val="1E293B"/>
                </a:solidFill>
                <a:latin typeface="Georgia"/>
              </a:rPr>
              <a:t>		</a:t>
            </a:r>
            <a:endParaRPr dirty="0"/>
          </a:p>
        </p:txBody>
      </p:sp>
      <p:sp>
        <p:nvSpPr>
          <p:cNvPr id="7" name="TextBox 1">
            <a:extLst>
              <a:ext uri="{FF2B5EF4-FFF2-40B4-BE49-F238E27FC236}">
                <a16:creationId xmlns:a16="http://schemas.microsoft.com/office/drawing/2014/main" id="{BA6EC986-ACC7-FCA5-E85B-C9FD411BA7C3}"/>
              </a:ext>
            </a:extLst>
          </p:cNvPr>
          <p:cNvSpPr txBox="1"/>
          <p:nvPr/>
        </p:nvSpPr>
        <p:spPr>
          <a:xfrm>
            <a:off x="548640" y="32385"/>
            <a:ext cx="10972800" cy="274320"/>
          </a:xfrm>
          <a:prstGeom prst="rect">
            <a:avLst/>
          </a:prstGeom>
          <a:noFill/>
        </p:spPr>
        <p:txBody>
          <a:bodyPr wrap="square" lIns="0" tIns="0" rIns="0" bIns="0">
            <a:spAutoFit/>
          </a:bodyPr>
          <a:lstStyle/>
          <a:p>
            <a:pPr>
              <a:defRPr sz="1000" b="1">
                <a:solidFill>
                  <a:srgbClr val="0284C7"/>
                </a:solidFill>
                <a:latin typeface="Arial"/>
              </a:defRPr>
            </a:pPr>
            <a:r>
              <a:rPr dirty="0"/>
              <a:t>SENTINEL: PREDICTIVE IT MONITORS</a:t>
            </a:r>
          </a:p>
        </p:txBody>
      </p:sp>
      <p:sp>
        <p:nvSpPr>
          <p:cNvPr id="9" name="Rectangle 3">
            <a:extLst>
              <a:ext uri="{FF2B5EF4-FFF2-40B4-BE49-F238E27FC236}">
                <a16:creationId xmlns:a16="http://schemas.microsoft.com/office/drawing/2014/main" id="{DB23AD02-0E2E-6393-3D54-8A50870F473F}"/>
              </a:ext>
            </a:extLst>
          </p:cNvPr>
          <p:cNvSpPr/>
          <p:nvPr/>
        </p:nvSpPr>
        <p:spPr>
          <a:xfrm>
            <a:off x="548640" y="63627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Imagen 12">
            <a:extLst>
              <a:ext uri="{FF2B5EF4-FFF2-40B4-BE49-F238E27FC236}">
                <a16:creationId xmlns:a16="http://schemas.microsoft.com/office/drawing/2014/main" id="{125B4727-7C97-93BB-CBAE-F7279E9E3FE8}"/>
              </a:ext>
            </a:extLst>
          </p:cNvPr>
          <p:cNvPicPr>
            <a:picLocks noChangeAspect="1"/>
          </p:cNvPicPr>
          <p:nvPr/>
        </p:nvPicPr>
        <p:blipFill>
          <a:blip r:embed="rId2"/>
          <a:srcRect l="2414" t="8329" r="2349" b="2974"/>
          <a:stretch>
            <a:fillRect/>
          </a:stretch>
        </p:blipFill>
        <p:spPr>
          <a:xfrm>
            <a:off x="1016508" y="680804"/>
            <a:ext cx="10158984" cy="61215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031206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t>Ecosistema Modular: Arquitectura de 4 Capas</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828800"/>
            <a:ext cx="256032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r>
              <a:rPr sz="3200" b="1" i="0">
                <a:solidFill>
                  <a:srgbClr val="0284C7"/>
                </a:solidFill>
                <a:latin typeface="Georgia"/>
              </a:rPr>
              <a:t>01</a:t>
            </a:r>
          </a:p>
          <a:p>
            <a:pPr>
              <a:spcBef>
                <a:spcPts val="600"/>
              </a:spcBef>
            </a:pPr>
            <a:r>
              <a:rPr sz="1400" b="1" i="0">
                <a:solidFill>
                  <a:srgbClr val="1E293B"/>
                </a:solidFill>
                <a:latin typeface="Georgia"/>
              </a:rPr>
              <a:t>Generación
(Simulador)</a:t>
            </a:r>
          </a:p>
          <a:p>
            <a:pPr>
              <a:spcBef>
                <a:spcPts val="400"/>
              </a:spcBef>
            </a:pPr>
            <a:r>
              <a:rPr sz="1000" b="1" i="0">
                <a:solidFill>
                  <a:srgbClr val="0284C7"/>
                </a:solidFill>
                <a:latin typeface="Arial"/>
              </a:rPr>
              <a:t>Python / psutil</a:t>
            </a:r>
          </a:p>
          <a:p>
            <a:pPr>
              <a:lnSpc>
                <a:spcPct val="115000"/>
              </a:lnSpc>
              <a:spcBef>
                <a:spcPts val="1200"/>
              </a:spcBef>
            </a:pPr>
            <a:r>
              <a:rPr sz="1150" b="0" i="0">
                <a:solidFill>
                  <a:srgbClr val="1E293B"/>
                </a:solidFill>
                <a:latin typeface="Arial"/>
              </a:rPr>
              <a:t>Script Python que emula el agente recopilando métricas mediante psutil. Genera telemetría de CPU, RAM, tráfico de red y conexiones PostgreSQL en escenarios estables o con colapsos programados con ruido.</a:t>
            </a:r>
          </a:p>
        </p:txBody>
      </p:sp>
      <p:sp>
        <p:nvSpPr>
          <p:cNvPr id="6" name="Rounded Rectangle 5"/>
          <p:cNvSpPr/>
          <p:nvPr/>
        </p:nvSpPr>
        <p:spPr>
          <a:xfrm>
            <a:off x="3392424" y="1828800"/>
            <a:ext cx="256032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r>
              <a:rPr sz="3200" b="1" i="0">
                <a:solidFill>
                  <a:srgbClr val="64748B"/>
                </a:solidFill>
                <a:latin typeface="Georgia"/>
              </a:rPr>
              <a:t>02</a:t>
            </a:r>
          </a:p>
          <a:p>
            <a:pPr>
              <a:spcBef>
                <a:spcPts val="600"/>
              </a:spcBef>
            </a:pPr>
            <a:r>
              <a:rPr sz="1400" b="1" i="0">
                <a:solidFill>
                  <a:srgbClr val="1E293B"/>
                </a:solidFill>
                <a:latin typeface="Georgia"/>
              </a:rPr>
              <a:t>Ingesta
(API Backend)</a:t>
            </a:r>
          </a:p>
          <a:p>
            <a:pPr>
              <a:spcBef>
                <a:spcPts val="400"/>
              </a:spcBef>
            </a:pPr>
            <a:r>
              <a:rPr sz="1000" b="1" i="0">
                <a:solidFill>
                  <a:srgbClr val="64748B"/>
                </a:solidFill>
                <a:latin typeface="Arial"/>
              </a:rPr>
              <a:t>FastAPI / Docker</a:t>
            </a:r>
          </a:p>
          <a:p>
            <a:pPr>
              <a:lnSpc>
                <a:spcPct val="115000"/>
              </a:lnSpc>
              <a:spcBef>
                <a:spcPts val="1200"/>
              </a:spcBef>
            </a:pPr>
            <a:r>
              <a:rPr sz="1150" b="0" i="0">
                <a:solidFill>
                  <a:srgbClr val="1E293B"/>
                </a:solidFill>
                <a:latin typeface="Arial"/>
              </a:rPr>
              <a:t>Backend en FastAPI que expone endpoints REST estructurados. Recibe datos de telemetría, realiza validaciones y los encamina rápidamente para garantizar persistencia y análisis continuo.</a:t>
            </a:r>
          </a:p>
        </p:txBody>
      </p:sp>
      <p:sp>
        <p:nvSpPr>
          <p:cNvPr id="7" name="Rounded Rectangle 6"/>
          <p:cNvSpPr/>
          <p:nvPr/>
        </p:nvSpPr>
        <p:spPr>
          <a:xfrm>
            <a:off x="6236208" y="1828800"/>
            <a:ext cx="256032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r>
              <a:rPr sz="3200" b="1" i="0">
                <a:solidFill>
                  <a:srgbClr val="EA580C"/>
                </a:solidFill>
                <a:latin typeface="Georgia"/>
              </a:rPr>
              <a:t>03</a:t>
            </a:r>
          </a:p>
          <a:p>
            <a:pPr>
              <a:spcBef>
                <a:spcPts val="600"/>
              </a:spcBef>
            </a:pPr>
            <a:r>
              <a:rPr sz="1400" b="1" i="0">
                <a:solidFill>
                  <a:srgbClr val="1E293B"/>
                </a:solidFill>
                <a:latin typeface="Georgia"/>
              </a:rPr>
              <a:t>Inteligencia
(Predictivo &amp; DB)</a:t>
            </a:r>
          </a:p>
          <a:p>
            <a:pPr>
              <a:spcBef>
                <a:spcPts val="400"/>
              </a:spcBef>
            </a:pPr>
            <a:r>
              <a:rPr sz="1000" b="1" i="0">
                <a:solidFill>
                  <a:srgbClr val="EA580C"/>
                </a:solidFill>
                <a:latin typeface="Arial"/>
              </a:rPr>
              <a:t>TimescaleDB / scikit-learn</a:t>
            </a:r>
          </a:p>
          <a:p>
            <a:pPr>
              <a:lnSpc>
                <a:spcPct val="115000"/>
              </a:lnSpc>
              <a:spcBef>
                <a:spcPts val="1200"/>
              </a:spcBef>
            </a:pPr>
            <a:r>
              <a:rPr sz="1150" b="0" i="0">
                <a:solidFill>
                  <a:srgbClr val="1E293B"/>
                </a:solidFill>
                <a:latin typeface="Arial"/>
              </a:rPr>
              <a:t>TimescaleDB almacena las series temporales de métricas. El Motor de IA en scikit-learn ejecuta algoritmos de Isolation Forest y regresiones, enlazados a reglas heuristicas de recomendación.</a:t>
            </a:r>
          </a:p>
        </p:txBody>
      </p:sp>
      <p:sp>
        <p:nvSpPr>
          <p:cNvPr id="8" name="Rounded Rectangle 7"/>
          <p:cNvSpPr/>
          <p:nvPr/>
        </p:nvSpPr>
        <p:spPr>
          <a:xfrm>
            <a:off x="9079992" y="1828800"/>
            <a:ext cx="256032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r>
              <a:rPr sz="3200" b="1" i="0">
                <a:solidFill>
                  <a:srgbClr val="16A34A"/>
                </a:solidFill>
                <a:latin typeface="Georgia"/>
              </a:rPr>
              <a:t>04</a:t>
            </a:r>
          </a:p>
          <a:p>
            <a:pPr>
              <a:spcBef>
                <a:spcPts val="600"/>
              </a:spcBef>
            </a:pPr>
            <a:r>
              <a:rPr sz="1400" b="1" i="0">
                <a:solidFill>
                  <a:srgbClr val="1E293B"/>
                </a:solidFill>
                <a:latin typeface="Georgia"/>
              </a:rPr>
              <a:t>Consumo
(Observabilidad)</a:t>
            </a:r>
          </a:p>
          <a:p>
            <a:pPr>
              <a:spcBef>
                <a:spcPts val="400"/>
              </a:spcBef>
            </a:pPr>
            <a:r>
              <a:rPr sz="1000" b="1" i="0">
                <a:solidFill>
                  <a:srgbClr val="16A34A"/>
                </a:solidFill>
                <a:latin typeface="Arial"/>
              </a:rPr>
              <a:t>Grafana Dashboard</a:t>
            </a:r>
          </a:p>
          <a:p>
            <a:pPr>
              <a:lnSpc>
                <a:spcPct val="115000"/>
              </a:lnSpc>
              <a:spcBef>
                <a:spcPts val="1200"/>
              </a:spcBef>
            </a:pPr>
            <a:r>
              <a:rPr sz="1150" b="0" i="0">
                <a:solidFill>
                  <a:srgbClr val="1E293B"/>
                </a:solidFill>
                <a:latin typeface="Arial"/>
              </a:rPr>
              <a:t>Dashboard visual en Grafana integrado con Docker Compose. Evita el rediseño de interfaz personalizada, reutilizando componentes estándar para un resultado con alto estándar profesional.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t>Metodología: Estrategia de Entrega Iterativa e Incremental</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2011680"/>
            <a:ext cx="338328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r>
              <a:rPr sz="1800" b="1" i="0">
                <a:solidFill>
                  <a:srgbClr val="0284C7"/>
                </a:solidFill>
                <a:latin typeface="Georgia"/>
              </a:rPr>
              <a:t>01. Enfoque Incremental</a:t>
            </a:r>
          </a:p>
          <a:p>
            <a:pPr>
              <a:spcBef>
                <a:spcPts val="800"/>
              </a:spcBef>
            </a:pPr>
            <a:r>
              <a:rPr sz="1000" b="1" i="0">
                <a:solidFill>
                  <a:srgbClr val="64748B"/>
                </a:solidFill>
                <a:latin typeface="Arial"/>
              </a:rPr>
              <a:t>DESACOPLAMIENTO DE COMPONENTES</a:t>
            </a:r>
          </a:p>
          <a:p>
            <a:pPr>
              <a:lnSpc>
                <a:spcPct val="120000"/>
              </a:lnSpc>
              <a:spcBef>
                <a:spcPts val="1400"/>
              </a:spcBef>
            </a:pPr>
            <a:r>
              <a:rPr sz="1300" b="0" i="0">
                <a:solidFill>
                  <a:srgbClr val="1E293B"/>
                </a:solidFill>
                <a:latin typeface="Arial"/>
              </a:rPr>
              <a:t>El MVP se desarrolla progresivamente en bloques aislados pero alineados por contratos de API claros. Primero se consolidan el Simulador y la persistencia antes de implementar la IA predictiva, minimizando dependencias complejas y maximizando control.</a:t>
            </a:r>
          </a:p>
        </p:txBody>
      </p:sp>
      <p:sp>
        <p:nvSpPr>
          <p:cNvPr id="6" name="Rounded Rectangle 5"/>
          <p:cNvSpPr/>
          <p:nvPr/>
        </p:nvSpPr>
        <p:spPr>
          <a:xfrm>
            <a:off x="4389120" y="2011680"/>
            <a:ext cx="338328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r>
              <a:rPr sz="1800" b="1" i="0">
                <a:solidFill>
                  <a:srgbClr val="EA580C"/>
                </a:solidFill>
                <a:latin typeface="Georgia"/>
              </a:rPr>
              <a:t>02. Validación End-to-End</a:t>
            </a:r>
          </a:p>
          <a:p>
            <a:pPr>
              <a:spcBef>
                <a:spcPts val="800"/>
              </a:spcBef>
            </a:pPr>
            <a:r>
              <a:rPr sz="1000" b="1" i="0">
                <a:solidFill>
                  <a:srgbClr val="64748B"/>
                </a:solidFill>
                <a:latin typeface="Arial"/>
              </a:rPr>
              <a:t>VALIDACIÓN CONTINUA DEL FLUJO</a:t>
            </a:r>
          </a:p>
          <a:p>
            <a:pPr>
              <a:lnSpc>
                <a:spcPct val="120000"/>
              </a:lnSpc>
              <a:spcBef>
                <a:spcPts val="1400"/>
              </a:spcBef>
            </a:pPr>
            <a:r>
              <a:rPr sz="1300" b="0" i="0">
                <a:solidFill>
                  <a:srgbClr val="1E293B"/>
                </a:solidFill>
                <a:latin typeface="Arial"/>
              </a:rPr>
              <a:t>Prioridad absoluta en mantener el ciclo operativo cerrado (Métrica -&gt; API -&gt; Almacenamiento -&gt; IA -&gt; Recomendación -&gt; Grafana) con un escenario simple pero bien pulido antes de diversificar funciones. El pipeline completo es el centro del valor.</a:t>
            </a:r>
          </a:p>
        </p:txBody>
      </p:sp>
      <p:sp>
        <p:nvSpPr>
          <p:cNvPr id="7" name="Rounded Rectangle 6"/>
          <p:cNvSpPr/>
          <p:nvPr/>
        </p:nvSpPr>
        <p:spPr>
          <a:xfrm>
            <a:off x="8229600" y="2011680"/>
            <a:ext cx="338328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r>
              <a:rPr sz="1800" b="1" i="0">
                <a:solidFill>
                  <a:srgbClr val="16A34A"/>
                </a:solidFill>
                <a:latin typeface="Georgia"/>
              </a:rPr>
              <a:t>03. Docker &amp; Reproducibilidad</a:t>
            </a:r>
          </a:p>
          <a:p>
            <a:pPr>
              <a:spcBef>
                <a:spcPts val="800"/>
              </a:spcBef>
            </a:pPr>
            <a:r>
              <a:rPr sz="1000" b="1" i="0">
                <a:solidFill>
                  <a:srgbClr val="64748B"/>
                </a:solidFill>
                <a:latin typeface="Arial"/>
              </a:rPr>
              <a:t>DESPLIEGUE SEGURO E INMEDIATO</a:t>
            </a:r>
          </a:p>
          <a:p>
            <a:pPr>
              <a:lnSpc>
                <a:spcPct val="120000"/>
              </a:lnSpc>
              <a:spcBef>
                <a:spcPts val="1400"/>
              </a:spcBef>
            </a:pPr>
            <a:r>
              <a:rPr sz="1300" b="0" i="0">
                <a:solidFill>
                  <a:srgbClr val="1E293B"/>
                </a:solidFill>
                <a:latin typeface="Arial"/>
              </a:rPr>
              <a:t>Cada hito se valida bajo entornos locales virtualizados con contenedores Docker. Esto asegura que la demostración técnica de Capstone y el despliegue del software sean completamente robustos, inmunes a diferencias de sistemas operativos locales.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t>Plan de Trabajo QQCC: Cronograma de 19 Semanas</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737360"/>
            <a:ext cx="338328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r>
              <a:rPr sz="1800" b="1" i="0">
                <a:solidFill>
                  <a:srgbClr val="0284C7"/>
                </a:solidFill>
                <a:latin typeface="Georgia"/>
              </a:rPr>
              <a:t>Génesis Hernández</a:t>
            </a:r>
          </a:p>
          <a:p>
            <a:pPr>
              <a:spcBef>
                <a:spcPts val="400"/>
              </a:spcBef>
            </a:pPr>
            <a:r>
              <a:rPr sz="1000" b="1" i="0">
                <a:solidFill>
                  <a:srgbClr val="64748B"/>
                </a:solidFill>
                <a:latin typeface="Arial"/>
              </a:rPr>
              <a:t>DATA SCIENCE &amp; QA LEAD</a:t>
            </a:r>
          </a:p>
          <a:p>
            <a:r>
              <a:rPr sz="800" b="0" i="0">
                <a:solidFill>
                  <a:srgbClr val="E2E8F0"/>
                </a:solidFill>
                <a:latin typeface="Arial"/>
              </a:rPr>
              <a:t>————————————————————————————</a:t>
            </a:r>
          </a:p>
          <a:p>
            <a:pPr>
              <a:lnSpc>
                <a:spcPct val="115000"/>
              </a:lnSpc>
              <a:spcBef>
                <a:spcPts val="800"/>
              </a:spcBef>
            </a:pPr>
            <a:r>
              <a:rPr sz="1150" b="1" i="0">
                <a:solidFill>
                  <a:srgbClr val="1E293B"/>
                </a:solidFill>
                <a:latin typeface="Arial"/>
              </a:rPr>
              <a:t>Definición de Secuencia (S1)</a:t>
            </a:r>
            <a:r>
              <a:rPr sz="1150" b="0" i="0">
                <a:solidFill>
                  <a:srgbClr val="1E293B"/>
                </a:solidFill>
                <a:latin typeface="Arial"/>
              </a:rPr>
              <a:t>: Diseño inicial de la arquitectura por capas y flujo del pipeline [29, 30].</a:t>
            </a:r>
          </a:p>
          <a:p>
            <a:pPr>
              <a:lnSpc>
                <a:spcPct val="115000"/>
              </a:lnSpc>
              <a:spcBef>
                <a:spcPts val="800"/>
              </a:spcBef>
            </a:pPr>
            <a:r>
              <a:rPr sz="1150" b="1" i="0">
                <a:solidFill>
                  <a:srgbClr val="1E293B"/>
                </a:solidFill>
                <a:latin typeface="Arial"/>
              </a:rPr>
              <a:t>Aseguramiento de Calidad (S12-15)</a:t>
            </a:r>
            <a:r>
              <a:rPr sz="1150" b="0" i="0">
                <a:solidFill>
                  <a:srgbClr val="1E293B"/>
                </a:solidFill>
                <a:latin typeface="Arial"/>
              </a:rPr>
              <a:t>: Pruebas unitarias de API, análisis de falsos positivos y simulación de incidentes en Docker [29, 30].</a:t>
            </a:r>
          </a:p>
          <a:p>
            <a:pPr>
              <a:lnSpc>
                <a:spcPct val="115000"/>
              </a:lnSpc>
              <a:spcBef>
                <a:spcPts val="800"/>
              </a:spcBef>
            </a:pPr>
            <a:r>
              <a:rPr sz="1150" b="1" i="0">
                <a:solidFill>
                  <a:srgbClr val="1E293B"/>
                </a:solidFill>
                <a:latin typeface="Arial"/>
              </a:rPr>
              <a:t>Evaluación Final (S16-19)</a:t>
            </a:r>
            <a:r>
              <a:rPr sz="1150" b="0" i="0">
                <a:solidFill>
                  <a:srgbClr val="1E293B"/>
                </a:solidFill>
                <a:latin typeface="Arial"/>
              </a:rPr>
              <a:t>: Documentación de métricas finales de valor y redacción del informe [29, 30].</a:t>
            </a:r>
          </a:p>
        </p:txBody>
      </p:sp>
      <p:sp>
        <p:nvSpPr>
          <p:cNvPr id="6" name="Rounded Rectangle 5"/>
          <p:cNvSpPr/>
          <p:nvPr/>
        </p:nvSpPr>
        <p:spPr>
          <a:xfrm>
            <a:off x="4389120" y="1737360"/>
            <a:ext cx="338328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r>
              <a:rPr sz="1800" b="1" i="0">
                <a:solidFill>
                  <a:srgbClr val="EA580C"/>
                </a:solidFill>
                <a:latin typeface="Georgia"/>
              </a:rPr>
              <a:t>Benjamín Mella</a:t>
            </a:r>
          </a:p>
          <a:p>
            <a:pPr>
              <a:spcBef>
                <a:spcPts val="400"/>
              </a:spcBef>
            </a:pPr>
            <a:r>
              <a:rPr sz="1000" b="1" i="0">
                <a:solidFill>
                  <a:srgbClr val="64748B"/>
                </a:solidFill>
                <a:latin typeface="Arial"/>
              </a:rPr>
              <a:t>LÓGICA &amp; FRONTEND</a:t>
            </a:r>
          </a:p>
          <a:p>
            <a:r>
              <a:rPr sz="800" b="0" i="0">
                <a:solidFill>
                  <a:srgbClr val="E2E8F0"/>
                </a:solidFill>
                <a:latin typeface="Arial"/>
              </a:rPr>
              <a:t>————————————————————————————</a:t>
            </a:r>
          </a:p>
          <a:p>
            <a:pPr>
              <a:lnSpc>
                <a:spcPct val="115000"/>
              </a:lnSpc>
              <a:spcBef>
                <a:spcPts val="800"/>
              </a:spcBef>
            </a:pPr>
            <a:r>
              <a:rPr sz="1150" b="1" i="0">
                <a:solidFill>
                  <a:srgbClr val="1E293B"/>
                </a:solidFill>
                <a:latin typeface="Arial"/>
              </a:rPr>
              <a:t>Simulador de Métricas (S2-3)</a:t>
            </a:r>
            <a:r>
              <a:rPr sz="1150" b="0" i="0">
                <a:solidFill>
                  <a:srgbClr val="1E293B"/>
                </a:solidFill>
                <a:latin typeface="Arial"/>
              </a:rPr>
              <a:t>: Programación de scripts en Python con psutil para recrear anomalías progresivas de forma realista [29, 30].</a:t>
            </a:r>
          </a:p>
          <a:p>
            <a:pPr>
              <a:lnSpc>
                <a:spcPct val="115000"/>
              </a:lnSpc>
              <a:spcBef>
                <a:spcPts val="800"/>
              </a:spcBef>
            </a:pPr>
            <a:r>
              <a:rPr sz="1150" b="1" i="0">
                <a:solidFill>
                  <a:srgbClr val="1E293B"/>
                </a:solidFill>
                <a:latin typeface="Arial"/>
              </a:rPr>
              <a:t>Lógica de Negocio (S9)</a:t>
            </a:r>
            <a:r>
              <a:rPr sz="1150" b="0" i="0">
                <a:solidFill>
                  <a:srgbClr val="1E293B"/>
                </a:solidFill>
                <a:latin typeface="Arial"/>
              </a:rPr>
              <a:t>: Implementación del motor heurístico de sugerencias y reglas predictivas [29, 30].</a:t>
            </a:r>
          </a:p>
          <a:p>
            <a:pPr>
              <a:lnSpc>
                <a:spcPct val="115000"/>
              </a:lnSpc>
              <a:spcBef>
                <a:spcPts val="800"/>
              </a:spcBef>
            </a:pPr>
            <a:r>
              <a:rPr sz="1150" b="1" i="0">
                <a:solidFill>
                  <a:srgbClr val="1E293B"/>
                </a:solidFill>
                <a:latin typeface="Arial"/>
              </a:rPr>
              <a:t>Consumo Visual (S10-11)</a:t>
            </a:r>
            <a:r>
              <a:rPr sz="1150" b="0" i="0">
                <a:solidFill>
                  <a:srgbClr val="1E293B"/>
                </a:solidFill>
                <a:latin typeface="Arial"/>
              </a:rPr>
              <a:t>: Integración e implementación de dashboards interactivos de Grafana [29, 30].</a:t>
            </a:r>
          </a:p>
        </p:txBody>
      </p:sp>
      <p:sp>
        <p:nvSpPr>
          <p:cNvPr id="7" name="Rounded Rectangle 6"/>
          <p:cNvSpPr/>
          <p:nvPr/>
        </p:nvSpPr>
        <p:spPr>
          <a:xfrm>
            <a:off x="8229600" y="1737360"/>
            <a:ext cx="338328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r>
              <a:rPr sz="1800" b="1" i="0">
                <a:solidFill>
                  <a:srgbClr val="16A34A"/>
                </a:solidFill>
                <a:latin typeface="Georgia"/>
              </a:rPr>
              <a:t>Bairon Raio</a:t>
            </a:r>
          </a:p>
          <a:p>
            <a:pPr>
              <a:spcBef>
                <a:spcPts val="400"/>
              </a:spcBef>
            </a:pPr>
            <a:r>
              <a:rPr sz="1000" b="1" i="0">
                <a:solidFill>
                  <a:srgbClr val="64748B"/>
                </a:solidFill>
                <a:latin typeface="Arial"/>
              </a:rPr>
              <a:t>INFRAESTRUCTURA &amp; ML</a:t>
            </a:r>
          </a:p>
          <a:p>
            <a:r>
              <a:rPr sz="800" b="0" i="0">
                <a:solidFill>
                  <a:srgbClr val="E2E8F0"/>
                </a:solidFill>
                <a:latin typeface="Arial"/>
              </a:rPr>
              <a:t>————————————————————————————</a:t>
            </a:r>
          </a:p>
          <a:p>
            <a:pPr>
              <a:lnSpc>
                <a:spcPct val="115000"/>
              </a:lnSpc>
              <a:spcBef>
                <a:spcPts val="800"/>
              </a:spcBef>
            </a:pPr>
            <a:r>
              <a:rPr sz="1150" b="1" i="0">
                <a:solidFill>
                  <a:srgbClr val="1E293B"/>
                </a:solidFill>
                <a:latin typeface="Arial"/>
              </a:rPr>
              <a:t>Ingesta y Persistencia (S4-5)</a:t>
            </a:r>
            <a:r>
              <a:rPr sz="1150" b="0" i="0">
                <a:solidFill>
                  <a:srgbClr val="1E293B"/>
                </a:solidFill>
                <a:latin typeface="Arial"/>
              </a:rPr>
              <a:t>: Modelo relacional en TimescaleDB y desarrollo del API REST mediante FastAPI [29, 30].</a:t>
            </a:r>
          </a:p>
          <a:p>
            <a:pPr>
              <a:lnSpc>
                <a:spcPct val="115000"/>
              </a:lnSpc>
              <a:spcBef>
                <a:spcPts val="800"/>
              </a:spcBef>
            </a:pPr>
            <a:r>
              <a:rPr sz="1150" b="1" i="0">
                <a:solidFill>
                  <a:srgbClr val="1E293B"/>
                </a:solidFill>
                <a:latin typeface="Arial"/>
              </a:rPr>
              <a:t>Entrenamiento IA (S6-8)</a:t>
            </a:r>
            <a:r>
              <a:rPr sz="1150" b="0" i="0">
                <a:solidFill>
                  <a:srgbClr val="1E293B"/>
                </a:solidFill>
                <a:latin typeface="Arial"/>
              </a:rPr>
              <a:t>: Diseño y evaluación del modelo Isolation Forest para detección anomalías [29, 30].</a:t>
            </a:r>
          </a:p>
          <a:p>
            <a:pPr>
              <a:lnSpc>
                <a:spcPct val="115000"/>
              </a:lnSpc>
              <a:spcBef>
                <a:spcPts val="800"/>
              </a:spcBef>
            </a:pPr>
            <a:r>
              <a:rPr sz="1150" b="1" i="0">
                <a:solidFill>
                  <a:srgbClr val="1E293B"/>
                </a:solidFill>
                <a:latin typeface="Arial"/>
              </a:rPr>
              <a:t>Líder de Integración (S12-15)</a:t>
            </a:r>
            <a:r>
              <a:rPr sz="1150" b="0" i="0">
                <a:solidFill>
                  <a:srgbClr val="1E293B"/>
                </a:solidFill>
                <a:latin typeface="Arial"/>
              </a:rPr>
              <a:t>: Virtualización en Docker Compose y soporte a pruebas completas [29, 30].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t>Gestión de Riesgos Críticos y Estrategias de Mitigación</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530352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r>
              <a:rPr sz="1250" b="1" i="0">
                <a:solidFill>
                  <a:srgbClr val="EA580C"/>
                </a:solidFill>
                <a:latin typeface="Georgia"/>
              </a:rPr>
              <a:t>R1. Desviación o demoras en el ajuste del modelo de IA</a:t>
            </a:r>
          </a:p>
          <a:p>
            <a:pPr>
              <a:lnSpc>
                <a:spcPct val="110000"/>
              </a:lnSpc>
              <a:spcBef>
                <a:spcPts val="400"/>
              </a:spcBef>
            </a:pPr>
            <a:r>
              <a:rPr sz="1050" b="1" i="0">
                <a:solidFill>
                  <a:srgbClr val="EA580C"/>
                </a:solidFill>
                <a:latin typeface="Arial"/>
              </a:rPr>
              <a:t>Consecuencia: </a:t>
            </a:r>
            <a:r>
              <a:rPr sz="1050" b="0" i="0">
                <a:solidFill>
                  <a:srgbClr val="1E293B"/>
                </a:solidFill>
                <a:latin typeface="Arial"/>
              </a:rPr>
              <a:t>Imprecisión predictiva o cuellos de botella en la fase de calibración matemática del Isolation Forest.</a:t>
            </a:r>
          </a:p>
          <a:p>
            <a:pPr>
              <a:lnSpc>
                <a:spcPct val="110000"/>
              </a:lnSpc>
              <a:spcBef>
                <a:spcPts val="600"/>
              </a:spcBef>
            </a:pPr>
            <a:r>
              <a:rPr sz="1050" b="1" i="0">
                <a:solidFill>
                  <a:srgbClr val="16A34A"/>
                </a:solidFill>
                <a:latin typeface="Arial"/>
              </a:rPr>
              <a:t>Mitigación: </a:t>
            </a:r>
            <a:r>
              <a:rPr sz="1050" b="0" i="0">
                <a:solidFill>
                  <a:srgbClr val="64748B"/>
                </a:solidFill>
                <a:latin typeface="Arial"/>
              </a:rPr>
              <a:t>Soportar la validación utilizando bases de datos sintéticas pregeneradas durante la Fase 0 para avanzar de manera independiente sin retrasar el backend.</a:t>
            </a:r>
          </a:p>
        </p:txBody>
      </p:sp>
      <p:sp>
        <p:nvSpPr>
          <p:cNvPr id="6" name="Rounded Rectangle 5"/>
          <p:cNvSpPr/>
          <p:nvPr/>
        </p:nvSpPr>
        <p:spPr>
          <a:xfrm>
            <a:off x="6309360" y="1645920"/>
            <a:ext cx="530352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r>
              <a:rPr sz="1250" b="1" i="0">
                <a:solidFill>
                  <a:srgbClr val="0284C7"/>
                </a:solidFill>
                <a:latin typeface="Georgia"/>
              </a:rPr>
              <a:t>R2. Cuellos de botella en comunicación Simulador -&gt; API</a:t>
            </a:r>
          </a:p>
          <a:p>
            <a:pPr>
              <a:lnSpc>
                <a:spcPct val="110000"/>
              </a:lnSpc>
              <a:spcBef>
                <a:spcPts val="400"/>
              </a:spcBef>
            </a:pPr>
            <a:r>
              <a:rPr sz="1050" b="1" i="0">
                <a:solidFill>
                  <a:srgbClr val="0284C7"/>
                </a:solidFill>
                <a:latin typeface="Arial"/>
              </a:rPr>
              <a:t>Consecuencia: </a:t>
            </a:r>
            <a:r>
              <a:rPr sz="1050" b="0" i="0">
                <a:solidFill>
                  <a:srgbClr val="1E293B"/>
                </a:solidFill>
                <a:latin typeface="Arial"/>
              </a:rPr>
              <a:t>La generación intensiva de telemetría ralentiza o satura los hilos de procesamiento del backend.</a:t>
            </a:r>
          </a:p>
          <a:p>
            <a:pPr>
              <a:lnSpc>
                <a:spcPct val="110000"/>
              </a:lnSpc>
              <a:spcBef>
                <a:spcPts val="600"/>
              </a:spcBef>
            </a:pPr>
            <a:r>
              <a:rPr sz="1050" b="1" i="0">
                <a:solidFill>
                  <a:srgbClr val="16A34A"/>
                </a:solidFill>
                <a:latin typeface="Arial"/>
              </a:rPr>
              <a:t>Mitigación: </a:t>
            </a:r>
            <a:r>
              <a:rPr sz="1050" b="0" i="0">
                <a:solidFill>
                  <a:srgbClr val="64748B"/>
                </a:solidFill>
                <a:latin typeface="Arial"/>
              </a:rPr>
              <a:t>Flexibilizar y ajustar la frecuencia de muestreo (por ejemplo, escalar de 1 segundo a 5 segundos) para aliviar drásticamente la carga sin perder resolución.</a:t>
            </a:r>
          </a:p>
        </p:txBody>
      </p:sp>
      <p:sp>
        <p:nvSpPr>
          <p:cNvPr id="7" name="Rounded Rectangle 6"/>
          <p:cNvSpPr/>
          <p:nvPr/>
        </p:nvSpPr>
        <p:spPr>
          <a:xfrm>
            <a:off x="548640" y="4023360"/>
            <a:ext cx="530352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r>
              <a:rPr sz="1250" b="1" i="0">
                <a:solidFill>
                  <a:srgbClr val="64748B"/>
                </a:solidFill>
                <a:latin typeface="Georgia"/>
              </a:rPr>
              <a:t>R3. Ampliación inadvertida del alcance (Scope Creep)</a:t>
            </a:r>
          </a:p>
          <a:p>
            <a:pPr>
              <a:lnSpc>
                <a:spcPct val="110000"/>
              </a:lnSpc>
              <a:spcBef>
                <a:spcPts val="400"/>
              </a:spcBef>
            </a:pPr>
            <a:r>
              <a:rPr sz="1050" b="1" i="0">
                <a:solidFill>
                  <a:srgbClr val="64748B"/>
                </a:solidFill>
                <a:latin typeface="Arial"/>
              </a:rPr>
              <a:t>Consecuencia: </a:t>
            </a:r>
            <a:r>
              <a:rPr sz="1050" b="0" i="0">
                <a:solidFill>
                  <a:srgbClr val="1E293B"/>
                </a:solidFill>
                <a:latin typeface="Arial"/>
              </a:rPr>
              <a:t>Intentar abarcar múltiples incidentes de forma superficial, amenazando la finalización académica.</a:t>
            </a:r>
          </a:p>
          <a:p>
            <a:pPr>
              <a:lnSpc>
                <a:spcPct val="110000"/>
              </a:lnSpc>
              <a:spcBef>
                <a:spcPts val="600"/>
              </a:spcBef>
            </a:pPr>
            <a:r>
              <a:rPr sz="1050" b="1" i="0">
                <a:solidFill>
                  <a:srgbClr val="16A34A"/>
                </a:solidFill>
                <a:latin typeface="Arial"/>
              </a:rPr>
              <a:t>Mitigación: </a:t>
            </a:r>
            <a:r>
              <a:rPr sz="1050" b="0" i="0">
                <a:solidFill>
                  <a:srgbClr val="64748B"/>
                </a:solidFill>
                <a:latin typeface="Arial"/>
              </a:rPr>
              <a:t>Mantener una disciplina estricta regida por el alcance inicial, priorizando consolidar el ciclo end-to-end antes de añadir nuevas métricas.</a:t>
            </a:r>
          </a:p>
        </p:txBody>
      </p:sp>
      <p:sp>
        <p:nvSpPr>
          <p:cNvPr id="8" name="Rounded Rectangle 7"/>
          <p:cNvSpPr/>
          <p:nvPr/>
        </p:nvSpPr>
        <p:spPr>
          <a:xfrm>
            <a:off x="6309360" y="4023360"/>
            <a:ext cx="530352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r>
              <a:rPr sz="1250" b="1" i="0">
                <a:solidFill>
                  <a:srgbClr val="16A34A"/>
                </a:solidFill>
                <a:latin typeface="Georgia"/>
              </a:rPr>
              <a:t>R4. Pérdida de rendimiento en inserciones continuas</a:t>
            </a:r>
          </a:p>
          <a:p>
            <a:pPr>
              <a:lnSpc>
                <a:spcPct val="110000"/>
              </a:lnSpc>
              <a:spcBef>
                <a:spcPts val="400"/>
              </a:spcBef>
            </a:pPr>
            <a:r>
              <a:rPr sz="1050" b="1" i="0">
                <a:solidFill>
                  <a:srgbClr val="16A34A"/>
                </a:solidFill>
                <a:latin typeface="Arial"/>
              </a:rPr>
              <a:t>Consecuencia: </a:t>
            </a:r>
            <a:r>
              <a:rPr sz="1050" b="0" i="0">
                <a:solidFill>
                  <a:srgbClr val="1E293B"/>
                </a:solidFill>
                <a:latin typeface="Arial"/>
              </a:rPr>
              <a:t>Degradación en base de datos PostgreSQL estándar al acumular millones de registros de telemetría.</a:t>
            </a:r>
          </a:p>
          <a:p>
            <a:pPr>
              <a:lnSpc>
                <a:spcPct val="110000"/>
              </a:lnSpc>
              <a:spcBef>
                <a:spcPts val="600"/>
              </a:spcBef>
            </a:pPr>
            <a:r>
              <a:rPr sz="1050" b="1" i="0">
                <a:solidFill>
                  <a:srgbClr val="16A34A"/>
                </a:solidFill>
                <a:latin typeface="Arial"/>
              </a:rPr>
              <a:t>Mitigación: </a:t>
            </a:r>
            <a:r>
              <a:rPr sz="1050" b="0" i="0">
                <a:solidFill>
                  <a:srgbClr val="64748B"/>
                </a:solidFill>
                <a:latin typeface="Arial"/>
              </a:rPr>
              <a:t>Utilizar de forma nativa la extensión de base de datos TimescaleDB e implementar una indexación estructurada por series temporales de entrada.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0972800" cy="274320"/>
          </a:xfrm>
          <a:prstGeom prst="rect">
            <a:avLst/>
          </a:prstGeom>
          <a:noFill/>
        </p:spPr>
        <p:txBody>
          <a:bodyPr wrap="square" lIns="0" tIns="0" rIns="0" bIns="0">
            <a:spAutoFit/>
          </a:bodyPr>
          <a:lstStyle/>
          <a:p>
            <a:pPr>
              <a:defRPr sz="1000" b="1">
                <a:solidFill>
                  <a:srgbClr val="0284C7"/>
                </a:solidFill>
                <a:latin typeface="Arial"/>
              </a:defRPr>
            </a:pPr>
            <a:r>
              <a:t>SENTINEL: PREDICTIVE IT MONITORS</a:t>
            </a:r>
          </a:p>
        </p:txBody>
      </p:sp>
      <p:sp>
        <p:nvSpPr>
          <p:cNvPr id="3" name="TextBox 2"/>
          <p:cNvSpPr txBox="1"/>
          <p:nvPr/>
        </p:nvSpPr>
        <p:spPr>
          <a:xfrm>
            <a:off x="548640" y="594360"/>
            <a:ext cx="11091672" cy="640080"/>
          </a:xfrm>
          <a:prstGeom prst="rect">
            <a:avLst/>
          </a:prstGeom>
          <a:noFill/>
        </p:spPr>
        <p:txBody>
          <a:bodyPr wrap="square" lIns="0" tIns="0" rIns="0" bIns="0">
            <a:spAutoFit/>
          </a:bodyPr>
          <a:lstStyle/>
          <a:p>
            <a:pPr>
              <a:defRPr sz="2500" b="1">
                <a:solidFill>
                  <a:srgbClr val="1E293B"/>
                </a:solidFill>
                <a:latin typeface="Georgia"/>
              </a:defRPr>
            </a:pPr>
            <a:r>
              <a:t>Hitos del Proyecto y Evidencias Entregables</a:t>
            </a:r>
          </a:p>
        </p:txBody>
      </p:sp>
      <p:sp>
        <p:nvSpPr>
          <p:cNvPr id="4" name="Rectangle 3"/>
          <p:cNvSpPr/>
          <p:nvPr/>
        </p:nvSpPr>
        <p:spPr>
          <a:xfrm>
            <a:off x="548640" y="1188720"/>
            <a:ext cx="11094415" cy="1905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828800"/>
            <a:ext cx="201168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228600" rIns="164592" rtlCol="0" anchor="ctr"/>
          <a:lstStyle/>
          <a:p>
            <a:pPr algn="ctr"/>
            <a:r>
              <a:rPr sz="2800" b="1" i="0">
                <a:solidFill>
                  <a:srgbClr val="0284C7"/>
                </a:solidFill>
                <a:latin typeface="Georgia"/>
              </a:rPr>
              <a:t>H1</a:t>
            </a:r>
          </a:p>
          <a:p>
            <a:pPr>
              <a:spcBef>
                <a:spcPts val="400"/>
              </a:spcBef>
            </a:pPr>
            <a:r>
              <a:rPr sz="1250" b="1" i="0">
                <a:solidFill>
                  <a:srgbClr val="1E293B"/>
                </a:solidFill>
                <a:latin typeface="Georgia"/>
              </a:rPr>
              <a:t>Arquitectura &amp; Simulador</a:t>
            </a:r>
          </a:p>
          <a:p>
            <a:r>
              <a:rPr sz="1000" b="1" i="0">
                <a:solidFill>
                  <a:srgbClr val="0284C7"/>
                </a:solidFill>
                <a:latin typeface="Arial"/>
              </a:rPr>
              <a:t>S1 - S3</a:t>
            </a:r>
          </a:p>
          <a:p>
            <a:r>
              <a:rPr sz="800" b="0" i="0">
                <a:solidFill>
                  <a:srgbClr val="E2E8F0"/>
                </a:solidFill>
                <a:latin typeface="Arial"/>
              </a:rPr>
              <a:t>———————————————</a:t>
            </a:r>
          </a:p>
          <a:p>
            <a:pPr>
              <a:lnSpc>
                <a:spcPct val="115000"/>
              </a:lnSpc>
              <a:spcBef>
                <a:spcPts val="600"/>
              </a:spcBef>
            </a:pPr>
            <a:r>
              <a:rPr sz="1050" b="1" i="0">
                <a:solidFill>
                  <a:srgbClr val="1E293B"/>
                </a:solidFill>
                <a:latin typeface="Arial"/>
              </a:rPr>
              <a:t>Evidencias concretas</a:t>
            </a:r>
            <a:r>
              <a:rPr sz="1050" b="0" i="0">
                <a:solidFill>
                  <a:srgbClr val="1E293B"/>
                </a:solidFill>
                <a:latin typeface="Arial"/>
              </a:rPr>
              <a:t>:</a:t>
            </a:r>
          </a:p>
          <a:p>
            <a:pPr>
              <a:lnSpc>
                <a:spcPct val="110000"/>
              </a:lnSpc>
            </a:pPr>
            <a:r>
              <a:rPr sz="1050" b="0" i="0">
                <a:solidFill>
                  <a:srgbClr val="1E293B"/>
                </a:solidFill>
                <a:latin typeface="Arial"/>
              </a:rPr>
              <a:t>• Diagrama de flujo de datos y secuencia Draw.io [28].</a:t>
            </a:r>
          </a:p>
          <a:p>
            <a:pPr>
              <a:lnSpc>
                <a:spcPct val="110000"/>
              </a:lnSpc>
            </a:pPr>
            <a:r>
              <a:rPr sz="1050" b="0" i="0">
                <a:solidFill>
                  <a:srgbClr val="1E293B"/>
                </a:solidFill>
                <a:latin typeface="Arial"/>
              </a:rPr>
              <a:t>• Script Python de simulación generando degradaciones [28].</a:t>
            </a:r>
          </a:p>
        </p:txBody>
      </p:sp>
      <p:sp>
        <p:nvSpPr>
          <p:cNvPr id="6" name="Rounded Rectangle 5"/>
          <p:cNvSpPr/>
          <p:nvPr/>
        </p:nvSpPr>
        <p:spPr>
          <a:xfrm>
            <a:off x="2779776" y="1828800"/>
            <a:ext cx="201168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228600" rIns="164592" rtlCol="0" anchor="ctr"/>
          <a:lstStyle/>
          <a:p>
            <a:pPr algn="ctr"/>
            <a:r>
              <a:rPr sz="2800" b="1" i="0">
                <a:solidFill>
                  <a:srgbClr val="64748B"/>
                </a:solidFill>
                <a:latin typeface="Georgia"/>
              </a:rPr>
              <a:t>H2</a:t>
            </a:r>
          </a:p>
          <a:p>
            <a:pPr>
              <a:spcBef>
                <a:spcPts val="400"/>
              </a:spcBef>
            </a:pPr>
            <a:r>
              <a:rPr sz="1250" b="1" i="0">
                <a:solidFill>
                  <a:srgbClr val="1E293B"/>
                </a:solidFill>
                <a:latin typeface="Georgia"/>
              </a:rPr>
              <a:t>Backend &amp;
Persistencia</a:t>
            </a:r>
          </a:p>
          <a:p>
            <a:r>
              <a:rPr sz="1000" b="1" i="0">
                <a:solidFill>
                  <a:srgbClr val="64748B"/>
                </a:solidFill>
                <a:latin typeface="Arial"/>
              </a:rPr>
              <a:t>S4 - S5</a:t>
            </a:r>
          </a:p>
          <a:p>
            <a:r>
              <a:rPr sz="800" b="0" i="0">
                <a:solidFill>
                  <a:srgbClr val="E2E8F0"/>
                </a:solidFill>
                <a:latin typeface="Arial"/>
              </a:rPr>
              <a:t>———————————————</a:t>
            </a:r>
          </a:p>
          <a:p>
            <a:pPr>
              <a:lnSpc>
                <a:spcPct val="115000"/>
              </a:lnSpc>
              <a:spcBef>
                <a:spcPts val="600"/>
              </a:spcBef>
            </a:pPr>
            <a:r>
              <a:rPr sz="1050" b="1" i="0">
                <a:solidFill>
                  <a:srgbClr val="1E293B"/>
                </a:solidFill>
                <a:latin typeface="Arial"/>
              </a:rPr>
              <a:t>Evidencias concretas</a:t>
            </a:r>
            <a:r>
              <a:rPr sz="1050" b="0" i="0">
                <a:solidFill>
                  <a:srgbClr val="1E293B"/>
                </a:solidFill>
                <a:latin typeface="Arial"/>
              </a:rPr>
              <a:t>:</a:t>
            </a:r>
          </a:p>
          <a:p>
            <a:pPr>
              <a:lnSpc>
                <a:spcPct val="110000"/>
              </a:lnSpc>
            </a:pPr>
            <a:r>
              <a:rPr sz="1050" b="0" i="0">
                <a:solidFill>
                  <a:srgbClr val="1E293B"/>
                </a:solidFill>
                <a:latin typeface="Arial"/>
              </a:rPr>
              <a:t>• API FastAPI funcional.</a:t>
            </a:r>
          </a:p>
          <a:p>
            <a:pPr>
              <a:lnSpc>
                <a:spcPct val="110000"/>
              </a:lnSpc>
            </a:pPr>
            <a:r>
              <a:rPr sz="1050" b="0" i="0">
                <a:solidFill>
                  <a:srgbClr val="1E293B"/>
                </a:solidFill>
                <a:latin typeface="Arial"/>
              </a:rPr>
              <a:t>• Contenedor TimescaleDB configurado y recibiendo persistencia [28].</a:t>
            </a:r>
          </a:p>
        </p:txBody>
      </p:sp>
      <p:sp>
        <p:nvSpPr>
          <p:cNvPr id="7" name="Rounded Rectangle 6"/>
          <p:cNvSpPr/>
          <p:nvPr/>
        </p:nvSpPr>
        <p:spPr>
          <a:xfrm>
            <a:off x="5010912" y="1828800"/>
            <a:ext cx="201168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228600" rIns="164592" rtlCol="0" anchor="ctr"/>
          <a:lstStyle/>
          <a:p>
            <a:pPr algn="ctr"/>
            <a:r>
              <a:rPr sz="2800" b="1" i="0">
                <a:solidFill>
                  <a:srgbClr val="EA580C"/>
                </a:solidFill>
                <a:latin typeface="Georgia"/>
              </a:rPr>
              <a:t>H3</a:t>
            </a:r>
          </a:p>
          <a:p>
            <a:pPr>
              <a:spcBef>
                <a:spcPts val="400"/>
              </a:spcBef>
            </a:pPr>
            <a:r>
              <a:rPr sz="1250" b="1" i="0">
                <a:solidFill>
                  <a:srgbClr val="1E293B"/>
                </a:solidFill>
                <a:latin typeface="Georgia"/>
              </a:rPr>
              <a:t>Modelo IA Predictivo</a:t>
            </a:r>
          </a:p>
          <a:p>
            <a:r>
              <a:rPr sz="1000" b="1" i="0">
                <a:solidFill>
                  <a:srgbClr val="EA580C"/>
                </a:solidFill>
                <a:latin typeface="Arial"/>
              </a:rPr>
              <a:t>S6 - S8</a:t>
            </a:r>
          </a:p>
          <a:p>
            <a:r>
              <a:rPr sz="800" b="0" i="0">
                <a:solidFill>
                  <a:srgbClr val="E2E8F0"/>
                </a:solidFill>
                <a:latin typeface="Arial"/>
              </a:rPr>
              <a:t>———————————————</a:t>
            </a:r>
          </a:p>
          <a:p>
            <a:pPr>
              <a:lnSpc>
                <a:spcPct val="115000"/>
              </a:lnSpc>
              <a:spcBef>
                <a:spcPts val="600"/>
              </a:spcBef>
            </a:pPr>
            <a:r>
              <a:rPr sz="1050" b="1" i="0">
                <a:solidFill>
                  <a:srgbClr val="1E293B"/>
                </a:solidFill>
                <a:latin typeface="Arial"/>
              </a:rPr>
              <a:t>Evidencias concretas</a:t>
            </a:r>
            <a:r>
              <a:rPr sz="1050" b="0" i="0">
                <a:solidFill>
                  <a:srgbClr val="1E293B"/>
                </a:solidFill>
                <a:latin typeface="Arial"/>
              </a:rPr>
              <a:t>:</a:t>
            </a:r>
          </a:p>
          <a:p>
            <a:pPr>
              <a:lnSpc>
                <a:spcPct val="110000"/>
              </a:lnSpc>
            </a:pPr>
            <a:r>
              <a:rPr sz="1050" b="0" i="0">
                <a:solidFill>
                  <a:srgbClr val="1E293B"/>
                </a:solidFill>
                <a:latin typeface="Arial"/>
              </a:rPr>
              <a:t>• Modelo Isolation Forest entrenado.</a:t>
            </a:r>
          </a:p>
          <a:p>
            <a:pPr>
              <a:lnSpc>
                <a:spcPct val="110000"/>
              </a:lnSpc>
            </a:pPr>
            <a:r>
              <a:rPr sz="1050" b="0" i="0">
                <a:solidFill>
                  <a:srgbClr val="1E293B"/>
                </a:solidFill>
                <a:latin typeface="Arial"/>
              </a:rPr>
              <a:t>• Reportes de calibración de precisión [28].</a:t>
            </a:r>
          </a:p>
        </p:txBody>
      </p:sp>
      <p:sp>
        <p:nvSpPr>
          <p:cNvPr id="8" name="Rounded Rectangle 7"/>
          <p:cNvSpPr/>
          <p:nvPr/>
        </p:nvSpPr>
        <p:spPr>
          <a:xfrm>
            <a:off x="7242048" y="1828800"/>
            <a:ext cx="201168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228600" rIns="164592" rtlCol="0" anchor="ctr"/>
          <a:lstStyle/>
          <a:p>
            <a:pPr algn="ctr"/>
            <a:r>
              <a:rPr sz="2800" b="1" i="0">
                <a:solidFill>
                  <a:srgbClr val="16A34A"/>
                </a:solidFill>
                <a:latin typeface="Georgia"/>
              </a:rPr>
              <a:t>H4</a:t>
            </a:r>
          </a:p>
          <a:p>
            <a:pPr>
              <a:spcBef>
                <a:spcPts val="400"/>
              </a:spcBef>
            </a:pPr>
            <a:r>
              <a:rPr sz="1250" b="1" i="0">
                <a:solidFill>
                  <a:srgbClr val="1E293B"/>
                </a:solidFill>
                <a:latin typeface="Georgia"/>
              </a:rPr>
              <a:t>Ecosistema Integrado</a:t>
            </a:r>
          </a:p>
          <a:p>
            <a:r>
              <a:rPr sz="1000" b="1" i="0">
                <a:solidFill>
                  <a:srgbClr val="16A34A"/>
                </a:solidFill>
                <a:latin typeface="Arial"/>
              </a:rPr>
              <a:t>S9 - S15</a:t>
            </a:r>
          </a:p>
          <a:p>
            <a:r>
              <a:rPr sz="800" b="0" i="0">
                <a:solidFill>
                  <a:srgbClr val="E2E8F0"/>
                </a:solidFill>
                <a:latin typeface="Arial"/>
              </a:rPr>
              <a:t>———————————————</a:t>
            </a:r>
          </a:p>
          <a:p>
            <a:pPr>
              <a:lnSpc>
                <a:spcPct val="115000"/>
              </a:lnSpc>
              <a:spcBef>
                <a:spcPts val="600"/>
              </a:spcBef>
            </a:pPr>
            <a:r>
              <a:rPr sz="1050" b="1" i="0">
                <a:solidFill>
                  <a:srgbClr val="1E293B"/>
                </a:solidFill>
                <a:latin typeface="Arial"/>
              </a:rPr>
              <a:t>Evidencias concretas</a:t>
            </a:r>
            <a:r>
              <a:rPr sz="1050" b="0" i="0">
                <a:solidFill>
                  <a:srgbClr val="1E293B"/>
                </a:solidFill>
                <a:latin typeface="Arial"/>
              </a:rPr>
              <a:t>:</a:t>
            </a:r>
          </a:p>
          <a:p>
            <a:pPr>
              <a:lnSpc>
                <a:spcPct val="110000"/>
              </a:lnSpc>
            </a:pPr>
            <a:r>
              <a:rPr sz="1050" b="0" i="0">
                <a:solidFill>
                  <a:srgbClr val="1E293B"/>
                </a:solidFill>
                <a:latin typeface="Arial"/>
              </a:rPr>
              <a:t>• Dashboard de Grafana.</a:t>
            </a:r>
          </a:p>
          <a:p>
            <a:pPr>
              <a:lnSpc>
                <a:spcPct val="110000"/>
              </a:lnSpc>
            </a:pPr>
            <a:r>
              <a:rPr sz="1050" b="0" i="0">
                <a:solidFill>
                  <a:srgbClr val="1E293B"/>
                </a:solidFill>
                <a:latin typeface="Arial"/>
              </a:rPr>
              <a:t>• Contenedor Docker Compose integrando el pipeline end-to-end [28].</a:t>
            </a:r>
          </a:p>
        </p:txBody>
      </p:sp>
      <p:sp>
        <p:nvSpPr>
          <p:cNvPr id="9" name="Rounded Rectangle 8"/>
          <p:cNvSpPr/>
          <p:nvPr/>
        </p:nvSpPr>
        <p:spPr>
          <a:xfrm>
            <a:off x="9473184" y="1828800"/>
            <a:ext cx="2011680" cy="4114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64592" tIns="228600" rIns="164592" rtlCol="0" anchor="ctr"/>
          <a:lstStyle/>
          <a:p>
            <a:pPr algn="ctr"/>
            <a:r>
              <a:rPr sz="2800" b="1" i="0">
                <a:solidFill>
                  <a:srgbClr val="0F172A"/>
                </a:solidFill>
                <a:latin typeface="Georgia"/>
              </a:rPr>
              <a:t>H5</a:t>
            </a:r>
          </a:p>
          <a:p>
            <a:pPr>
              <a:spcBef>
                <a:spcPts val="400"/>
              </a:spcBef>
            </a:pPr>
            <a:r>
              <a:rPr sz="1250" b="1" i="0">
                <a:solidFill>
                  <a:srgbClr val="1E293B"/>
                </a:solidFill>
                <a:latin typeface="Georgia"/>
              </a:rPr>
              <a:t>Defensa y Reporte</a:t>
            </a:r>
          </a:p>
          <a:p>
            <a:r>
              <a:rPr sz="1000" b="1" i="0">
                <a:solidFill>
                  <a:srgbClr val="0F172A"/>
                </a:solidFill>
                <a:latin typeface="Arial"/>
              </a:rPr>
              <a:t>S16 - S19</a:t>
            </a:r>
          </a:p>
          <a:p>
            <a:r>
              <a:rPr sz="800" b="0" i="0">
                <a:solidFill>
                  <a:srgbClr val="E2E8F0"/>
                </a:solidFill>
                <a:latin typeface="Arial"/>
              </a:rPr>
              <a:t>———————————————</a:t>
            </a:r>
          </a:p>
          <a:p>
            <a:pPr>
              <a:lnSpc>
                <a:spcPct val="115000"/>
              </a:lnSpc>
              <a:spcBef>
                <a:spcPts val="600"/>
              </a:spcBef>
            </a:pPr>
            <a:r>
              <a:rPr sz="1050" b="1" i="0">
                <a:solidFill>
                  <a:srgbClr val="1E293B"/>
                </a:solidFill>
                <a:latin typeface="Arial"/>
              </a:rPr>
              <a:t>Evidencias concretas</a:t>
            </a:r>
            <a:r>
              <a:rPr sz="1050" b="0" i="0">
                <a:solidFill>
                  <a:srgbClr val="1E293B"/>
                </a:solidFill>
                <a:latin typeface="Arial"/>
              </a:rPr>
              <a:t>:</a:t>
            </a:r>
          </a:p>
          <a:p>
            <a:pPr>
              <a:lnSpc>
                <a:spcPct val="110000"/>
              </a:lnSpc>
            </a:pPr>
            <a:r>
              <a:rPr sz="1050" b="0" i="0">
                <a:solidFill>
                  <a:srgbClr val="1E293B"/>
                </a:solidFill>
                <a:latin typeface="Arial"/>
              </a:rPr>
              <a:t>• Documento Técnico Final.</a:t>
            </a:r>
          </a:p>
          <a:p>
            <a:pPr>
              <a:lnSpc>
                <a:spcPct val="110000"/>
              </a:lnSpc>
            </a:pPr>
            <a:r>
              <a:rPr sz="1050" b="0" i="0">
                <a:solidFill>
                  <a:srgbClr val="1E293B"/>
                </a:solidFill>
                <a:latin typeface="Arial"/>
              </a:rPr>
              <a:t>• Resultados empíricos de anticipación y ahorro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TotalTime>
  <Words>2183</Words>
  <Application>Microsoft Office PowerPoint</Application>
  <PresentationFormat>Panorámica</PresentationFormat>
  <Paragraphs>192</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BENJAMIN IGNACIO MELLA MIRANDA</cp:lastModifiedBy>
  <cp:revision>4</cp:revision>
  <dcterms:created xsi:type="dcterms:W3CDTF">2013-01-27T09:14:16Z</dcterms:created>
  <dcterms:modified xsi:type="dcterms:W3CDTF">2026-09-07T01:32:53Z</dcterms:modified>
  <cp:category/>
</cp:coreProperties>
</file>